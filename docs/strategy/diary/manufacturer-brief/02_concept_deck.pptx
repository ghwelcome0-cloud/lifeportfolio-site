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LIFE PORTFOLIO · 인생포트폴리오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>
                <a:solidFill>
                  <a:srgbClr val="1A2B4A"/>
                </a:solidFill>
                <a:latin typeface="Noto Sans CJK KR"/>
                <a:ea typeface="Noto Sans CJK KR"/>
              </a:rPr>
              <a:t>인생포트폴리오 커스텀 다이어리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74151"/>
                </a:solidFill>
                <a:latin typeface="Noto Sans CJK KR"/>
                <a:ea typeface="Noto Sans CJK KR"/>
              </a:rPr>
              <a:t>제작 시안 · 디자인 컨셉 &amp; 생산 사양 제안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228600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발주처     인생포트폴리오 / Life Portfolio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제품명     인생포트폴리오 커스텀 다이어리(가칭)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규격       A5(148×210mm) · 양장 사철 · 약 232p (단일 시나리오)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종이       만년필 친화 70g (도모에리버 대체재)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수량       500부 1차 발주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대상       우일 · 북토리 · 이든프린팅 3사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0350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Manufacturer Brief · v1.1 · 2026-05-20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목차 — 5개 챕터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제품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011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한 줄 정의 · 타겟 사용자 · 사용 시나리오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116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3 ~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6032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43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외관 사양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788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사이즈 · 표지 · 컬러 · 종이 · 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2788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5 ~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756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5204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속지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661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Part 0 ~ Part 7 · 합계 232p (단일 시나리오)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3566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8 ~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519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인쇄 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343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일반 인쇄 단일 층 / 손글씨 친화 타이포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14 ~ 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9204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292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749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견적 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120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8개 항목 + 회신 양식 + 일정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120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제품 한 줄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31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0" b="1">
                <a:solidFill>
                  <a:srgbClr val="C9A04F"/>
                </a:solidFill>
                <a:latin typeface="Noto Sans CJK KR"/>
                <a:ea typeface="Noto Sans CJK KR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8600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A2B4A"/>
                </a:solidFill>
                <a:latin typeface="Noto Sans CJK KR"/>
                <a:ea typeface="Noto Sans CJK KR"/>
              </a:rPr>
              <a:t>자기 검사 리포트가 그대로
옮겨 적히는 1년치 자기설계 다이어리.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4754880"/>
            <a:ext cx="228600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493776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374151"/>
                </a:solidFill>
                <a:latin typeface="Noto Sans CJK KR"/>
                <a:ea typeface="Noto Sans CJK KR"/>
              </a:rPr>
              <a:t>검사 리포트의 4SE(자기이해/자기표현/자기설계/자기실행)와 실행 프로그램의 3주·3개월·1년 구조를 그대로 받아 적는 빈칸 양식을 갖춘다. 다이어리는 리포트의 연장선이며, 두 산출물의 라벨·항목명·순서는 100% 일치한다.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 &amp; 사용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303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30 ~ 50대 자기설계 의지자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검사·진단 도구를 일상에 통합하려는 직장인 / 사업자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1년 단위 목표 설계 + 주간 실행 점검을 병행하려는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만년필·종이 다이어리를 선호하는 아날로그 친화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신앙/철학/인문적 분기점을 일상에 두려는 독자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사용 시나리오 (3 step)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56032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72491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060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검사 응답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온라인 검사 도구로 본인의 사명·비전·4SE 결과 도출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52044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68503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566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리포트 수령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8862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PDF 검사 리포트 5p + 실행 프로그램 PDF 6p 발급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448056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64515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26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다이어리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8463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다이어리 Part 0~7의 빈칸 양식에 리포트 결과를 옮겨 적음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외관 사양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사이즈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A5 (148 × 210mm)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몰스킨 위클리 라지와 동일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39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39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PU 양장 + 금박 박표지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형압 인생포트폴리오 로고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38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38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38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제본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38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양장 사철 (Smyth-sewn)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38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180° 펼침 — 만년필 작성 친화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부속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가름끈 2개 / 모서리 코너 4개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인덱스 박 / 뒷주머니 1개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39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39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39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포장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39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박스 + 인삿말 카드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39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+ 사용 가이드 8p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38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38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38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38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약 232p (단일 시나리오)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38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속표지·판권 8p 포함 — 70g 단일 견적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컬러 &amp; 마감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606040" cy="1920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CLASSIC NAVY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클래식 네이비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기본 컬러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920240"/>
            <a:ext cx="2606040" cy="1920240"/>
          </a:xfrm>
          <a:prstGeom prst="rect">
            <a:avLst/>
          </a:prstGeom>
          <a:solidFill>
            <a:srgbClr val="6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BURGUNDY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버건디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20240"/>
            <a:ext cx="2606040" cy="1920240"/>
          </a:xfrm>
          <a:prstGeom prst="rect">
            <a:avLst/>
          </a:prstGeom>
          <a:solidFill>
            <a:srgbClr val="1F3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FOREST 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그린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1920240"/>
            <a:ext cx="2606040" cy="1920240"/>
          </a:xfrm>
          <a:prstGeom prst="rect">
            <a:avLst/>
          </a:prstGeom>
          <a:solidFill>
            <a:srgbClr val="3D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LIMITED EDITION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한정판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별도 협의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91672" cy="118872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54864" cy="11887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5780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표지 마감 사양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표지 본체: PU 양장 (제조사 추천 자재 1종 + 대안 1종 제시 요청)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박표지: 골드 박(#C9A04F 톤) + 형압(blind emboss) 인생포트폴리오 로고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측면(에지): 무가공 — 만년필 친화 + 페이지 펼침 안정성 우선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종이 사양 — 만년필 친화 70g 단일 견적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74151"/>
                </a:solidFill>
                <a:latin typeface="Noto Sans CJK KR"/>
                <a:ea typeface="Noto Sans CJK KR"/>
              </a:rPr>
              <a:t>손글씨 다이어리 — 만년필·중성펜 친화 70g 단일 시나리오 (v1.1 확정)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9167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11091672" cy="6400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15184"/>
            <a:ext cx="10543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A2B4A"/>
                </a:solidFill>
                <a:latin typeface="Noto Sans CJK KR"/>
                <a:ea typeface="Noto Sans CJK KR"/>
              </a:rPr>
              <a:t>만년필 친화 70g — 도모에리버 / OK Fools 대체재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규격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평량: 70gsm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색상: 아이보리 / 미색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두께감: 얇음 — 232p 기준 책등 약 18mm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비침: 거의 없음 — 양면 필기 안정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만년필 잉크 번짐: 최소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3375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선택 이유 (v1.1)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Part 0 7항목·Part 3 자유 메모를 손글씨로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  채우는 "손글씨 다이어리" 컨셉 — 70g 단일 최적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80g 보급형은 만년필 사용 시 비침 발생 → 제외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232p × 70g = 휴대성 + 두께 균형 (몰스킨급)</a:t>
            </a:r>
          </a:p>
          <a:p>
            <a:pPr algn="l">
              <a:lnSpc>
                <a:spcPct val="16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· 견적 단일화로 발주 의사결정 단축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속지 구조 개요 — Part 0 ~ 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구조 원칙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530352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검사 리포트 5p + 실행 프로그램 6p의 항목명을
  다이어리 빈칸 양식에 그대로 반영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4SE(자기이해·자기표현·자기설계·자기실행)와
  4라벨(본질·한 마디·키워드·결합) 공통 유지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페이지 합계 232p (단일 시나리오)
  속표지·판권 8p 포함</a:t>
            </a:r>
          </a:p>
          <a:p>
            <a:pPr algn="l">
              <a:lnSpc>
                <a:spcPct val="16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· 전 부 일반 인쇄 — VDP 없음
  Part 0 7항목은 사용자가 손글씨로 옮겨 적음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Part 0 ~ Part 7 구조표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468880"/>
            <a:ext cx="50292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328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532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5328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내용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3464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9077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9077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8p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리포트 발췌 (손글씨 7항목)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20040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2735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735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16p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27355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13영역 인생 지도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56616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6393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6393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연간 비전 · 90일 마일스톤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93192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4005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0050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104p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40050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주간 펼침면 52주 × 2p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429768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3708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3708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52p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370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영역별 분기 회고 4p ×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466344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7365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47365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736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감사 일기 (월별)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502920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102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51023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8p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10235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1:1 코칭 약속 · 진척 기록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539496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468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68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4681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부록 — 성경구절 / 명언 / 13영역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5760720"/>
            <a:ext cx="5029200" cy="36576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8338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합계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8338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224p + 8p = 232p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583387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속표지·판권 8p 포함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0 — 리포트 발췌 (손글씨 7항목 · 8p)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2560320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100% 자기화 — 손글씨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사용자가 리포트 결과를 손으로 자기 다이어리에 옮겨 적는 의식 — 자기 관련 기억 +α (Mueller &amp; Oppenheimer, 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빈칸 라벨 + 손글씨 영역 (7항목 × 1p)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1.  사명 (Mission)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3872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2.  비전 (Vision)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38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2277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3.  4SE 응답 강도(%)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9227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자기이해 / 자기표현 / 자기설계 / 자기실행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068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4.  TOP3 강점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3068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908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5.  TOP2 성장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6908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6.  실행 프로파일 6필드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74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유형/스타일/추진력/몰입환경/활동/도구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5896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7.  추천 진로 3카드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589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추천 진로 · 추천 교육 · 확장 방향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606040"/>
            <a:ext cx="4690872" cy="35204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2606040"/>
            <a:ext cx="54864" cy="35204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269748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제조사 견적 요청 사항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70g 종이 — 손글씨 친화도 테스트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  (만년필·중성펜 번짐 없음)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펼침 180° 평평도 (양장 사철) — 양면 필기 안정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 행 간격 7mm — 손글씨 가독성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라벨 서체: Noto Sans CJK KR Light 9pt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단일 일반 인쇄 — VDP 없음, 전수량 동일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→ 사양서 PDF v1.1 §4 와 동일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1 · 2 — 13영역 인생지도 + 연간 비전 (28p)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1 — 13영역 인생 지도 (16p)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명칭만 인쇄 (인생포트폴리오 IP)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점수 칸 / 메모 칸은 빈칸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약 1.2p 할당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13영역 라벨 (보고서 6.2 그대로)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신앙·소명 / 가족·관계 / 직업·경력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재정·자산 / 건강·체력 / 학습·성장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취미·여가 / 봉사·기여 / 자기관리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거주·환경 / 인간관계 / 정서·내면 / 유산·미래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2 — 연간 비전 · 90일 마일스톤 (12p)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“VISION” 박스 + “분기 마일스톤 3개” 라벨만 인쇄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빈칸은 사용자가 검사 리포트 비전 카드 보고 옮겨 적음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Hyatt 스타일 — 연간 → 분기 → 90일 분할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매핑되는 검사 리포트 항목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리포트 페이지 1 — 비전 카드의 핵심·보조 문장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1 — 분기 테마 카드 1개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3 — 3개월 카드 3개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1">
                <a:solidFill>
                  <a:srgbClr val="C9A04F"/>
                </a:solidFill>
                <a:latin typeface="Noto Sans CJK KR"/>
                <a:ea typeface="Noto Sans CJK KR"/>
              </a:rPr>
              <a:t>→ 라벨·항목명 운영 PDF와 100% 정합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3 — 주간 펼침면 52주 × 2p (104p)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몰스킨 위클리 + 프랭클린 우선순위 하이브리드 — 좌측 계획 / 우측 메모 (자체 IP 5대 차별화 적용)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77440"/>
            <a:ext cx="5394960" cy="361188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LEFT — 이번 주 우선순위 · 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883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Week ##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63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① 이번 주 사명 (1줄)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310128"/>
            <a:ext cx="5029200" cy="70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290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② A · B · C 우선순위 (프랭클린 참고)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675888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667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3840480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" y="3931920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22776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4096512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4187952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78808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4352544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526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③ If-Then 3개 (Gollwitzer 실행 의도)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92040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5093208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5294376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41324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④ 요일별 일정 (월→일 간소)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623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74151"/>
                </a:solidFill>
                <a:latin typeface="Noto Sans CJK KR"/>
                <a:ea typeface="Noto Sans CJK KR"/>
              </a:rPr>
              <a:t>월 · 화 · 수 · 목 · 금 · 토 · 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377440"/>
            <a:ext cx="5394960" cy="361188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450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RIGHT — 자유 메모 + 이번 주 회고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6883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도트 그리드 7mm + 회고 3줄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· 7mm 도트 그리드 자유 메모 영역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429000"/>
            <a:ext cx="5029200" cy="160020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2084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7687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3290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8893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4496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5703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1306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6909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2512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8116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3719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9322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4925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0528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6132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1735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07338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72084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7687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3290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8893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4496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0100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5703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51306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76909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2512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8116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3719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79322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04925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30528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6132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81735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07338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72084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97687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3290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48893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4496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00100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5703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1306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6909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02512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8116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3719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79322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30528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132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81735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7338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72084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97687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23290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48893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4496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0100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5703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51306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76909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02512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28116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53719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79322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4925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0528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132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81735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07338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084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7687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3290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8893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74496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0100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25703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51306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76909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02512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28116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53719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79322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04925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528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56132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81735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07338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2084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97687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23290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8893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74496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0100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25703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51306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76909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02512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28116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53719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79322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04925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30528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56132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081735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107338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72084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97687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3290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48893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74496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00100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25703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51306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76909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02512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28116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53719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79322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04925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30528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56132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081735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07338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72084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97687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23290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48893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74496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00100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25703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51306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76909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902512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28116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53719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79322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04925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528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56132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1735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07338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537960" y="51663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⑤ 이번 주 회고 3줄 (자체 IP)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37960" y="539496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잘된 것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360920" y="5532120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537960" y="55961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배운 것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360920" y="5733288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537960" y="579729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다음 주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360920" y="5934456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772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자체 IP 차별화: ① 주간 사명 · ② 프랭클린 우선순위 · ③ Gollwitzer If-Then · ④ 몰스킨 서셋 · ⑤ 자체 3줄 회고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4 · 5 — 분기 회고 + 감사 일기 (64p)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4 — 영역별 분기 회고 (4p × 13 = 52p)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영역명 인쇄(인생포트폴리오 13영역)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Pennebaker 표현적 글쓰기 4문항 빈칸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4p (분기당 1p 회고)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Pennebaker 4문항(고정 라벨)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Q1. 지난 분기 이 영역에서 일어난 사건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Q2. 그때 느낀 감정과 생각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Q3. 그것이 내게 의미하는 바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Q4. 다음 분기의 의도와 행동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Pennebaker(1986) — Expressive Writing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5 — 감사 일기 월별 (12p)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월 1p (12개월)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라벨 "이번 달 감사 3가지"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 3줄 + 우측 짧은 메모 칸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디자인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페이지 상단에 월 / 년 표기만 인쇄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빈 공간 비율 70% 이상 — 사용자 공간 확보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골드 라인 1줄로 시각적 분리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Cregg &amp; Cheavens(2024) — Gratitude RCT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6 · 7 — 1:1 코칭 기록 + 부록 (20p)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6 — 1:1 코칭 약속 · 진척 기록 (8p)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성과 추적 보드 — 4컬럼 표 (실행 프로그램 PDF p4 동일)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6400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주차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7320" y="3017520"/>
            <a:ext cx="20116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실행 과제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3017520"/>
            <a:ext cx="9144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090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완료(Y/N)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017520"/>
            <a:ext cx="14630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0906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성찰 메모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8328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17320" y="338328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338328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38328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70332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370332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9000" y="370332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70332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2336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402336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402336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402336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34340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17320" y="434340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29000" y="434340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434340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66344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17320" y="466344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29000" y="466344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43400" y="466344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98348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17320" y="498348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29000" y="498348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3400" y="498348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4864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근거: Matthews(2007) Group 5 — 글로 쓴 목표 + 친구에게 약속·진척 보고 시 달성률 +78%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7 — 부록 (12p)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 — 라벨만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성경구절 또는 명언 모음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참고 가이드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사용 가이드 요약 (2p)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연락처 / 라이선스 / 색인 (2p)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신학 안전 표현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"성경구절 또는 명언 선택 가능" 중립 표현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Frankl·Dik·Wrzesniewski 등 학술 인용은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  Pre-evangelism / Common Grace 영역에서 안전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자기 너머의 부름을 명시적 vocation으로 동일시 않음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인쇄 구조 — 단일 일반 인쇄 (Single-Layer Print)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다이어리 1권 = 전 페이지 동일 일반 인쇄 (속표지·판권 8p + 내지 224p). 구매자별 개인화는 사용자가 손글씨로 수행.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91672" cy="182880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91440" cy="18288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334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SINGLE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A2B4A"/>
                </a:solidFill>
                <a:latin typeface="Noto Sans CJK KR"/>
                <a:ea typeface="Noto Sans CJK KR"/>
              </a:rPr>
              <a:t>일반 인쇄 — 빈칸 양식 (라벨만 인쇄 / 사용자가 손글씨로 채움)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적용 범위: Part 0 (8p) — 7항목 빈칸 + Part 1~7 (224p) 전부 동일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장점: 단일 인쇄 = 단가 안정, 제조사 교섭 단순화, VDP 시스템 투자 불필요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견적 요청: 70g 종이 · 232p 단일 시나리오 · 오프셋/디지털 택1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91672" cy="169164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91440" cy="16916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개인화 메커니즘 — 자기화(自己化) by 손글씨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663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Part 0 7항목 (사명/비전/4SE/TOP3/TOP2/실행프로파일/추천진로) — 리포트를 보며 손으로 옮겨 적음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Part 1~7 전보 — 라벨만 인쇄되어 있고 활용 온도는 사용자의 손글씨에서 창출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· 근거: Mueller &amp; Oppenheimer(2014) — 손글씨 → 개념 이해·장기 기억 우위 / Smoker(2009) — 손글씨 루틴 → 자기 관련 정보 처리 강화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타이포 · 여백 · 페이지 설계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미니멀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타이포·여백 위주. 사진·일러스트 최소화. 사용자가 빈 공간을 채움.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만년필 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70g 도모에리버 대체재 권장. 비침·번짐 최소. 행간 충분히 확보.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가독성 우선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본문 10.5 ~ 11pt 권장. 한글 행간 1.6 ~ 1.7. 노안 사용자 30~50대 가독성 우선.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빈 공간 =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각 페이지 빈 공간 비율 60% 이상. 사용자의 글쓰기 공간이 곧 다이어리의 핵심 IP.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05 · 견적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+ 회신 양식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— 8개 (사양서 v1.1 §4 ~ §6)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4688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420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외관(2)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A5 양장 사철 / PU + 금박·형압·가름끈 2 부속 일괄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종이(1)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175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70g 만년필 친화 — 단일 시나리오 견적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7472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478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페이지(1)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20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232p 단일 (속표지·판권 8p 포함)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7764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5079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인쇄(1)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0233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일반 인쇄 1종 — 오프셋/디지털 추천 선택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48056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537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후가공(1)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5262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금박(C9A04F) + 형압 로고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9834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566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포장(1)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0292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박스 + 인삿카드 + 사용가이드 8p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48640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595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납기(1)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32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샘플 · 본인쇄 일정 + 예약 옵션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회신 양식 — 단일 시나리오 견적표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0" y="2468880"/>
            <a:ext cx="128016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2560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항목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468880"/>
            <a:ext cx="11887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560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수량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2468880"/>
            <a:ext cx="25603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25603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견적·납기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2852928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294436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샘플 제작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2852928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0" y="29443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2852928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29443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본 계약 이전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3236976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3284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본 제작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236976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0" y="332841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500부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52560" y="3236976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0" y="3328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1차 발주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0" y="3621024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37124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추가 제작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3621024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371246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+500부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52560" y="3621024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37124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재주문 옵션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4005072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4096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단가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4005072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55280" y="4096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52560" y="4005072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0" y="4096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도매 서적용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0" y="4617720"/>
            <a:ext cx="5029200" cy="150876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83680" y="4617720"/>
            <a:ext cx="54864" cy="15087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470916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회신 요청 일정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사양서 수령 후 7영업일 이내 회신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4 시나리오 견적 + VDP 가능 여부 + 납기일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· 회신처: [추후 협의] / 담당자: [추후 협의]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비교 후 1개 제조사 샘플 제작 의뢰 진행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