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515600" cy="22860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515600" cy="22860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40680" y="1554480"/>
            <a:ext cx="1280160" cy="1280160"/>
          </a:xfrm>
          <a:prstGeom prst="rect">
            <a:avLst/>
          </a:prstGeom>
          <a:solidFill>
            <a:srgbClr val="1A2B4A"/>
          </a:solidFill>
          <a:ln w="9525">
            <a:solidFill>
              <a:srgbClr val="C9A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40680" y="1691640"/>
            <a:ext cx="1280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5400" b="1">
                <a:solidFill>
                  <a:srgbClr val="C9A04F"/>
                </a:solidFill>
                <a:latin typeface="Noto Sans CJK KR"/>
                <a:ea typeface="Noto Sans CJK KR"/>
              </a:rPr>
              <a:t>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C9A04F"/>
                </a:solidFill>
                <a:latin typeface="Noto Sans CJK KR"/>
                <a:ea typeface="Noto Sans CJK KR"/>
              </a:rPr>
              <a:t>LIFE · PORTFOLIO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0332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5400" b="1">
                <a:solidFill>
                  <a:srgbClr val="FEF7E6"/>
                </a:solidFill>
                <a:latin typeface="Noto Sans CJK KR"/>
                <a:ea typeface="Noto Sans CJK KR"/>
              </a:rPr>
              <a:t>인생포트폴리오</a:t>
            </a:r>
          </a:p>
        </p:txBody>
      </p:sp>
      <p:sp>
        <p:nvSpPr>
          <p:cNvPr id="9" name="Rectangle 8"/>
          <p:cNvSpPr/>
          <p:nvPr/>
        </p:nvSpPr>
        <p:spPr>
          <a:xfrm>
            <a:off x="5623560" y="4892040"/>
            <a:ext cx="914400" cy="22860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0749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600" b="0">
                <a:solidFill>
                  <a:srgbClr val="C9A04F"/>
                </a:solidFill>
                <a:latin typeface="Noto Sans CJK KR"/>
                <a:ea typeface="Noto Sans CJK KR"/>
              </a:rPr>
              <a:t>Only 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73152" cy="411480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217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C9A04F"/>
                </a:solidFill>
                <a:latin typeface="Noto Sans CJK KR"/>
                <a:ea typeface="Noto Sans CJK KR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1A2B4A"/>
                </a:solidFill>
                <a:latin typeface="Noto Sans CJK KR"/>
                <a:ea typeface="Noto Sans CJK KR"/>
              </a:rPr>
              <a:t>목차 — 5개 챕터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566928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2800" b="1">
                <a:solidFill>
                  <a:srgbClr val="E5E7EB"/>
                </a:solidFill>
                <a:latin typeface="Noto Sans CJK KR"/>
                <a:ea typeface="Noto Sans CJK KR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828800" cy="27432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77440" y="1508760"/>
            <a:ext cx="9262872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C9A04F"/>
                </a:solidFill>
                <a:latin typeface="Noto Sans CJK KR"/>
                <a:ea typeface="Noto Sans CJK K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96596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A2B4A"/>
                </a:solidFill>
                <a:latin typeface="Noto Sans CJK KR"/>
                <a:ea typeface="Noto Sans CJK KR"/>
              </a:rPr>
              <a:t>제품 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0116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Noto Sans CJK KR"/>
                <a:ea typeface="Noto Sans CJK KR"/>
              </a:rPr>
              <a:t>한 줄 정의 · 타겟 사용자 · 사용 시나리오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20116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9CA3AF"/>
                </a:solidFill>
                <a:latin typeface="Noto Sans CJK KR"/>
                <a:ea typeface="Noto Sans CJK KR"/>
              </a:rPr>
              <a:t>3 ~ 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560320"/>
            <a:ext cx="10835640" cy="4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69748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C9A04F"/>
                </a:solidFill>
                <a:latin typeface="Noto Sans CJK KR"/>
                <a:ea typeface="Noto Sans CJK KR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74320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A2B4A"/>
                </a:solidFill>
                <a:latin typeface="Noto Sans CJK KR"/>
                <a:ea typeface="Noto Sans CJK KR"/>
              </a:rPr>
              <a:t>외관 사양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7889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Noto Sans CJK KR"/>
                <a:ea typeface="Noto Sans CJK KR"/>
              </a:rPr>
              <a:t>사이즈 · 표지 · 컬러 · 종이 · 마감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27889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9CA3AF"/>
                </a:solidFill>
                <a:latin typeface="Noto Sans CJK KR"/>
                <a:ea typeface="Noto Sans CJK KR"/>
              </a:rPr>
              <a:t>5 ~ 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7560"/>
            <a:ext cx="10835640" cy="4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47472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C9A04F"/>
                </a:solidFill>
                <a:latin typeface="Noto Sans CJK KR"/>
                <a:ea typeface="Noto Sans CJK KR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52044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A2B4A"/>
                </a:solidFill>
                <a:latin typeface="Noto Sans CJK KR"/>
                <a:ea typeface="Noto Sans CJK KR"/>
              </a:rPr>
              <a:t>속지 구조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5661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Noto Sans CJK KR"/>
                <a:ea typeface="Noto Sans CJK KR"/>
              </a:rPr>
              <a:t>Part 0 ~ Part 7 · 합계 256p · 연간/월간/메모장 포함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356616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9CA3AF"/>
                </a:solidFill>
                <a:latin typeface="Noto Sans CJK KR"/>
                <a:ea typeface="Noto Sans CJK KR"/>
              </a:rPr>
              <a:t>8 ~ 13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114800"/>
            <a:ext cx="10835640" cy="4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25196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C9A04F"/>
                </a:solidFill>
                <a:latin typeface="Noto Sans CJK KR"/>
                <a:ea typeface="Noto Sans CJK KR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29768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A2B4A"/>
                </a:solidFill>
                <a:latin typeface="Noto Sans CJK KR"/>
                <a:ea typeface="Noto Sans CJK KR"/>
              </a:rPr>
              <a:t>인쇄 구조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3434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Noto Sans CJK KR"/>
                <a:ea typeface="Noto Sans CJK KR"/>
              </a:rPr>
              <a:t>일반 인쇄 단일 층 / 손글씨 친화 타이포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43434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9CA3AF"/>
                </a:solidFill>
                <a:latin typeface="Noto Sans CJK KR"/>
                <a:ea typeface="Noto Sans CJK KR"/>
              </a:rPr>
              <a:t>14 ~ 15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92040"/>
            <a:ext cx="10835640" cy="4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02920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C9A04F"/>
                </a:solidFill>
                <a:latin typeface="Noto Sans CJK KR"/>
                <a:ea typeface="Noto Sans CJK KR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507492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A2B4A"/>
                </a:solidFill>
                <a:latin typeface="Noto Sans CJK KR"/>
                <a:ea typeface="Noto Sans CJK KR"/>
              </a:rPr>
              <a:t>견적 요청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51206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Noto Sans CJK KR"/>
                <a:ea typeface="Noto Sans CJK KR"/>
              </a:rPr>
              <a:t>8개 항목 + 회신 양식 + 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51206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9CA3AF"/>
                </a:solidFill>
                <a:latin typeface="Noto Sans CJK KR"/>
                <a:ea typeface="Noto Sans CJK KR"/>
              </a:rPr>
              <a:t>16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6446520"/>
            <a:ext cx="11094415" cy="45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5379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Noto Sans CJK KR"/>
                <a:ea typeface="Noto Sans CJK KR"/>
              </a:rPr>
              <a:t>Life Portfolio · 인생포트폴리오 맞춤형 다이어리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653796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Noto Sans CJK KR"/>
                <a:ea typeface="Noto Sans CJK KR"/>
              </a:rPr>
              <a:t>v1.0 · 500부 견적 요청    |    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73152" cy="411480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217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C9A04F"/>
                </a:solidFill>
                <a:latin typeface="Noto Sans CJK KR"/>
                <a:ea typeface="Noto Sans CJK KR"/>
              </a:rPr>
              <a:t>01 · 제품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1A2B4A"/>
                </a:solidFill>
                <a:latin typeface="Noto Sans CJK KR"/>
                <a:ea typeface="Noto Sans CJK KR"/>
              </a:rPr>
              <a:t>제품 한 줄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566928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2800" b="1">
                <a:solidFill>
                  <a:srgbClr val="E5E7EB"/>
                </a:solidFill>
                <a:latin typeface="Noto Sans CJK KR"/>
                <a:ea typeface="Noto Sans CJK KR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828800" cy="27432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77440" y="1508760"/>
            <a:ext cx="9262872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7315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0" b="1">
                <a:solidFill>
                  <a:srgbClr val="C9A04F"/>
                </a:solidFill>
                <a:latin typeface="Noto Sans CJK KR"/>
                <a:ea typeface="Noto Sans CJK KR"/>
              </a:rP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286000"/>
            <a:ext cx="100584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>
                <a:solidFill>
                  <a:srgbClr val="1A2B4A"/>
                </a:solidFill>
                <a:latin typeface="Noto Sans CJK KR"/>
                <a:ea typeface="Noto Sans CJK KR"/>
              </a:rPr>
              <a:t>자기 검사 리포트가 그대로
옮겨 적히는 1년치 자기설계 다이어리.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4754880"/>
            <a:ext cx="2286000" cy="36576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4937760"/>
            <a:ext cx="9601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300" b="0">
                <a:solidFill>
                  <a:srgbClr val="374151"/>
                </a:solidFill>
                <a:latin typeface="Noto Sans CJK KR"/>
                <a:ea typeface="Noto Sans CJK KR"/>
              </a:rPr>
              <a:t>검사 리포트의 4SE(자기이해/자기표현/자기설계/자기실행)와 실행 프로그램의 3주·3개월·1년 구조를 그대로 받아 적는 빈칸 양식을 갖춘다. 다이어리는 리포트의 연장선이며, 두 산출물의 라벨·항목명·순서는 100% 일치한다.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446520"/>
            <a:ext cx="11094415" cy="45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379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Noto Sans CJK KR"/>
                <a:ea typeface="Noto Sans CJK KR"/>
              </a:rPr>
              <a:t>Life Portfolio · 인생포트폴리오 맞춤형 다이어리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653796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Noto Sans CJK KR"/>
                <a:ea typeface="Noto Sans CJK KR"/>
              </a:rPr>
              <a:t>v1.0 · 500부 견적 요청    |    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73152" cy="411480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217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C9A04F"/>
                </a:solidFill>
                <a:latin typeface="Noto Sans CJK KR"/>
                <a:ea typeface="Noto Sans CJK KR"/>
              </a:rPr>
              <a:t>01 · 제품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1A2B4A"/>
                </a:solidFill>
                <a:latin typeface="Noto Sans CJK KR"/>
                <a:ea typeface="Noto Sans CJK KR"/>
              </a:rPr>
              <a:t>타겟 사용자 &amp; 사용 시나리오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566928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2800" b="1">
                <a:solidFill>
                  <a:srgbClr val="E5E7EB"/>
                </a:solidFill>
                <a:latin typeface="Noto Sans CJK KR"/>
                <a:ea typeface="Noto Sans CJK KR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828800" cy="27432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77440" y="1508760"/>
            <a:ext cx="9262872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A2B4A"/>
                </a:solidFill>
                <a:latin typeface="Noto Sans CJK KR"/>
                <a:ea typeface="Noto Sans CJK KR"/>
              </a:rPr>
              <a:t>타겟 사용자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914400" cy="27432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3035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85000"/>
              </a:lnSpc>
            </a:pPr>
            <a:r>
              <a:rPr sz="1300" b="0">
                <a:solidFill>
                  <a:srgbClr val="1F2937"/>
                </a:solidFill>
                <a:latin typeface="Noto Sans CJK KR"/>
                <a:ea typeface="Noto Sans CJK KR"/>
              </a:rPr>
              <a:t>· 30 ~ 50대 자기설계 의지자</a:t>
            </a:r>
          </a:p>
          <a:p>
            <a:pPr algn="l">
              <a:lnSpc>
                <a:spcPct val="185000"/>
              </a:lnSpc>
            </a:pPr>
            <a:r>
              <a:rPr sz="1300" b="0">
                <a:solidFill>
                  <a:srgbClr val="1F2937"/>
                </a:solidFill>
                <a:latin typeface="Noto Sans CJK KR"/>
                <a:ea typeface="Noto Sans CJK KR"/>
              </a:rPr>
              <a:t>· 검사·진단 도구를 일상에 통합하려는 직장인 / 사업자</a:t>
            </a:r>
          </a:p>
          <a:p>
            <a:pPr algn="l">
              <a:lnSpc>
                <a:spcPct val="185000"/>
              </a:lnSpc>
            </a:pPr>
            <a:r>
              <a:rPr sz="1300" b="0">
                <a:solidFill>
                  <a:srgbClr val="1F2937"/>
                </a:solidFill>
                <a:latin typeface="Noto Sans CJK KR"/>
                <a:ea typeface="Noto Sans CJK KR"/>
              </a:rPr>
              <a:t>· 1년 단위 목표 설계 + 주간 실행 점검을 병행하려는 사용자</a:t>
            </a:r>
          </a:p>
          <a:p>
            <a:pPr algn="l">
              <a:lnSpc>
                <a:spcPct val="185000"/>
              </a:lnSpc>
            </a:pPr>
            <a:r>
              <a:rPr sz="1300" b="0">
                <a:solidFill>
                  <a:srgbClr val="1F2937"/>
                </a:solidFill>
                <a:latin typeface="Noto Sans CJK KR"/>
                <a:ea typeface="Noto Sans CJK KR"/>
              </a:rPr>
              <a:t>· 만년필·종이 다이어리를 선호하는 아날로그 친화 사용자</a:t>
            </a:r>
          </a:p>
          <a:p>
            <a:pPr algn="l">
              <a:lnSpc>
                <a:spcPct val="185000"/>
              </a:lnSpc>
            </a:pPr>
            <a:r>
              <a:rPr sz="1300" b="0">
                <a:solidFill>
                  <a:srgbClr val="1F2937"/>
                </a:solidFill>
                <a:latin typeface="Noto Sans CJK KR"/>
                <a:ea typeface="Noto Sans CJK KR"/>
              </a:rPr>
              <a:t>· 신앙/철학/인문적 분기점을 일상에 두려는 독자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A2B4A"/>
                </a:solidFill>
                <a:latin typeface="Noto Sans CJK KR"/>
                <a:ea typeface="Noto Sans CJK KR"/>
              </a:rPr>
              <a:t>사용 시나리오 (3 step)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286000"/>
            <a:ext cx="914400" cy="27432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2560320"/>
            <a:ext cx="822960" cy="77724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724912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Noto Sans CJK KR"/>
                <a:ea typeface="Noto Sans CJK KR"/>
              </a:rPr>
              <a:t>STEP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60604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A2B4A"/>
                </a:solidFill>
                <a:latin typeface="Noto Sans CJK KR"/>
                <a:ea typeface="Noto Sans CJK KR"/>
              </a:rPr>
              <a:t>검사 응답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92608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374151"/>
                </a:solidFill>
                <a:latin typeface="Noto Sans CJK KR"/>
                <a:ea typeface="Noto Sans CJK KR"/>
              </a:rPr>
              <a:t>온라인 검사 도구로 본인의 사명·비전·4SE 결과 도출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3520440"/>
            <a:ext cx="822960" cy="77724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685032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Noto Sans CJK KR"/>
                <a:ea typeface="Noto Sans CJK KR"/>
              </a:rPr>
              <a:t>STEP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356616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A2B4A"/>
                </a:solidFill>
                <a:latin typeface="Noto Sans CJK KR"/>
                <a:ea typeface="Noto Sans CJK KR"/>
              </a:rPr>
              <a:t>리포트 수령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388620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374151"/>
                </a:solidFill>
                <a:latin typeface="Noto Sans CJK KR"/>
                <a:ea typeface="Noto Sans CJK KR"/>
              </a:rPr>
              <a:t>PDF 검사 리포트 5p + 실행 프로그램 PDF 6p 발급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4480560"/>
            <a:ext cx="822960" cy="77724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645152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Noto Sans CJK KR"/>
                <a:ea typeface="Noto Sans CJK KR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452628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A2B4A"/>
                </a:solidFill>
                <a:latin typeface="Noto Sans CJK KR"/>
                <a:ea typeface="Noto Sans CJK KR"/>
              </a:rPr>
              <a:t>다이어리 작성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484632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374151"/>
                </a:solidFill>
                <a:latin typeface="Noto Sans CJK KR"/>
                <a:ea typeface="Noto Sans CJK KR"/>
              </a:rPr>
              <a:t>다이어리 Part 0~7의 빈칸 양식에 리포트 결과를 옮겨 적음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6446520"/>
            <a:ext cx="11094415" cy="45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5379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Noto Sans CJK KR"/>
                <a:ea typeface="Noto Sans CJK KR"/>
              </a:rPr>
              <a:t>Life Portfolio · 인생포트폴리오 맞춤형 다이어리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653796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Noto Sans CJK KR"/>
                <a:ea typeface="Noto Sans CJK KR"/>
              </a:rPr>
              <a:t>v1.0 · 500부 견적 요청    |    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73152" cy="411480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217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C9A04F"/>
                </a:solidFill>
                <a:latin typeface="Noto Sans CJK KR"/>
                <a:ea typeface="Noto Sans CJK KR"/>
              </a:rPr>
              <a:t>02 · 외관 사양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1A2B4A"/>
                </a:solidFill>
                <a:latin typeface="Noto Sans CJK KR"/>
                <a:ea typeface="Noto Sans CJK KR"/>
              </a:rPr>
              <a:t>외관 사양 한눈에 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566928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2800" b="1">
                <a:solidFill>
                  <a:srgbClr val="E5E7EB"/>
                </a:solidFill>
                <a:latin typeface="Noto Sans CJK KR"/>
                <a:ea typeface="Noto Sans CJK KR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828800" cy="27432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77440" y="1508760"/>
            <a:ext cx="9262872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3749039" cy="1417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54864" cy="1417320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57400"/>
            <a:ext cx="3383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C9A04F"/>
                </a:solidFill>
                <a:latin typeface="Noto Sans CJK KR"/>
                <a:ea typeface="Noto Sans CJK KR"/>
              </a:rPr>
              <a:t>사이즈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31720"/>
            <a:ext cx="33832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A2B4A"/>
                </a:solidFill>
                <a:latin typeface="Noto Sans CJK KR"/>
                <a:ea typeface="Noto Sans CJK KR"/>
              </a:rPr>
              <a:t>A5 (148 × 210mm)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33832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7280"/>
                </a:solidFill>
                <a:latin typeface="Noto Sans CJK KR"/>
                <a:ea typeface="Noto Sans CJK KR"/>
              </a:rPr>
              <a:t>몰스킨 위클리 라지와 동일 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39" y="1920240"/>
            <a:ext cx="3749039" cy="1417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39" y="1920240"/>
            <a:ext cx="54864" cy="1417320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39" y="2057400"/>
            <a:ext cx="3383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C9A04F"/>
                </a:solidFill>
                <a:latin typeface="Noto Sans CJK KR"/>
                <a:ea typeface="Noto Sans CJK KR"/>
              </a:rPr>
              <a:t>표지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39" y="2331720"/>
            <a:ext cx="33832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A2B4A"/>
                </a:solidFill>
                <a:latin typeface="Noto Sans CJK KR"/>
                <a:ea typeface="Noto Sans CJK KR"/>
              </a:rPr>
              <a:t>PU 양장 + 금박 박표지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39" y="2788920"/>
            <a:ext cx="33832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7280"/>
                </a:solidFill>
                <a:latin typeface="Noto Sans CJK KR"/>
                <a:ea typeface="Noto Sans CJK KR"/>
              </a:rPr>
              <a:t>형압 인생포트폴리오 로고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38" y="1920240"/>
            <a:ext cx="3749039" cy="1417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38" y="1920240"/>
            <a:ext cx="54864" cy="1417320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9638" y="2057400"/>
            <a:ext cx="3383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C9A04F"/>
                </a:solidFill>
                <a:latin typeface="Noto Sans CJK KR"/>
                <a:ea typeface="Noto Sans CJK KR"/>
              </a:rPr>
              <a:t>제본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38" y="2331720"/>
            <a:ext cx="33832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A2B4A"/>
                </a:solidFill>
                <a:latin typeface="Noto Sans CJK KR"/>
                <a:ea typeface="Noto Sans CJK KR"/>
              </a:rPr>
              <a:t>양장 사철 (Smyth-sewn)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38" y="2788920"/>
            <a:ext cx="33832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7280"/>
                </a:solidFill>
                <a:latin typeface="Noto Sans CJK KR"/>
                <a:ea typeface="Noto Sans CJK KR"/>
              </a:rPr>
              <a:t>180° 펼침 — 만년필 작성 친화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502152"/>
            <a:ext cx="3749039" cy="1417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502152"/>
            <a:ext cx="54864" cy="1417320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639312"/>
            <a:ext cx="3383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C9A04F"/>
                </a:solidFill>
                <a:latin typeface="Noto Sans CJK KR"/>
                <a:ea typeface="Noto Sans CJK KR"/>
              </a:rPr>
              <a:t>부속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913632"/>
            <a:ext cx="33832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A2B4A"/>
                </a:solidFill>
                <a:latin typeface="Noto Sans CJK KR"/>
                <a:ea typeface="Noto Sans CJK KR"/>
              </a:rPr>
              <a:t>가름끈 2개 / 모서리 코너 4개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370832"/>
            <a:ext cx="33832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7280"/>
                </a:solidFill>
                <a:latin typeface="Noto Sans CJK KR"/>
                <a:ea typeface="Noto Sans CJK KR"/>
              </a:rPr>
              <a:t>인덱스 박 / 뒷주머니 1개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34839" y="3502152"/>
            <a:ext cx="3749039" cy="1417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34839" y="3502152"/>
            <a:ext cx="54864" cy="1417320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39" y="3639312"/>
            <a:ext cx="3383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C9A04F"/>
                </a:solidFill>
                <a:latin typeface="Noto Sans CJK KR"/>
                <a:ea typeface="Noto Sans CJK KR"/>
              </a:rPr>
              <a:t>포장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39" y="3913632"/>
            <a:ext cx="33832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A2B4A"/>
                </a:solidFill>
                <a:latin typeface="Noto Sans CJK KR"/>
                <a:ea typeface="Noto Sans CJK KR"/>
              </a:rPr>
              <a:t>박스 + 인삿말 카드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39" y="4370832"/>
            <a:ext cx="33832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7280"/>
                </a:solidFill>
                <a:latin typeface="Noto Sans CJK KR"/>
                <a:ea typeface="Noto Sans CJK KR"/>
              </a:rPr>
              <a:t>+ 사용 가이드 8p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21038" y="3502152"/>
            <a:ext cx="3749039" cy="1417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321038" y="3502152"/>
            <a:ext cx="54864" cy="1417320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9638" y="3639312"/>
            <a:ext cx="3383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C9A04F"/>
                </a:solidFill>
                <a:latin typeface="Noto Sans CJK KR"/>
                <a:ea typeface="Noto Sans CJK KR"/>
              </a:rPr>
              <a:t>페이지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38" y="3913632"/>
            <a:ext cx="33832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A2B4A"/>
                </a:solidFill>
                <a:latin typeface="Noto Sans CJK KR"/>
                <a:ea typeface="Noto Sans CJK KR"/>
              </a:rPr>
              <a:t>256p (16의 배수 · 16절판 최적)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49638" y="4370832"/>
            <a:ext cx="33832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7280"/>
                </a:solidFill>
                <a:latin typeface="Noto Sans CJK KR"/>
                <a:ea typeface="Noto Sans CJK KR"/>
              </a:rPr>
              <a:t>속표지·판권 8p + 본문 248p — 70g 단일 견적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6446520"/>
            <a:ext cx="11094415" cy="45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65379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Noto Sans CJK KR"/>
                <a:ea typeface="Noto Sans CJK KR"/>
              </a:rPr>
              <a:t>Life Portfolio · 인생포트폴리오 맞춤형 다이어리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653796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Noto Sans CJK KR"/>
                <a:ea typeface="Noto Sans CJK KR"/>
              </a:rPr>
              <a:t>v1.0 · 500부 견적 요청    |    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73152" cy="411480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217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C9A04F"/>
                </a:solidFill>
                <a:latin typeface="Noto Sans CJK KR"/>
                <a:ea typeface="Noto Sans CJK KR"/>
              </a:rPr>
              <a:t>02 · 외관 사양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1A2B4A"/>
                </a:solidFill>
                <a:latin typeface="Noto Sans CJK KR"/>
                <a:ea typeface="Noto Sans CJK KR"/>
              </a:rPr>
              <a:t>컬러 &amp; 마감 옵션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566928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2800" b="1">
                <a:solidFill>
                  <a:srgbClr val="E5E7EB"/>
                </a:solidFill>
                <a:latin typeface="Noto Sans CJK KR"/>
                <a:ea typeface="Noto Sans CJK KR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828800" cy="27432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77440" y="1508760"/>
            <a:ext cx="9262872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2606040" cy="192024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840480"/>
            <a:ext cx="26060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C9A04F"/>
                </a:solidFill>
                <a:latin typeface="Noto Sans CJK KR"/>
                <a:ea typeface="Noto Sans CJK KR"/>
              </a:rPr>
              <a:t>CLASSIC NAVY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A2B4A"/>
                </a:solidFill>
                <a:latin typeface="Noto Sans CJK KR"/>
                <a:ea typeface="Noto Sans CJK KR"/>
              </a:rPr>
              <a:t>클래식 네이비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Noto Sans CJK KR"/>
                <a:ea typeface="Noto Sans CJK KR"/>
              </a:rPr>
              <a:t>기본 컬러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920240"/>
            <a:ext cx="2606040" cy="1920240"/>
          </a:xfrm>
          <a:prstGeom prst="rect">
            <a:avLst/>
          </a:prstGeom>
          <a:solidFill>
            <a:srgbClr val="6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3840480"/>
            <a:ext cx="26060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393192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C9A04F"/>
                </a:solidFill>
                <a:latin typeface="Noto Sans CJK KR"/>
                <a:ea typeface="Noto Sans CJK KR"/>
              </a:rPr>
              <a:t>BURGUNDY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420624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A2B4A"/>
                </a:solidFill>
                <a:latin typeface="Noto Sans CJK KR"/>
                <a:ea typeface="Noto Sans CJK KR"/>
              </a:rPr>
              <a:t>버건디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457200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Noto Sans CJK KR"/>
                <a:ea typeface="Noto Sans CJK KR"/>
              </a:rPr>
              <a:t>옵션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920240"/>
            <a:ext cx="2606040" cy="1920240"/>
          </a:xfrm>
          <a:prstGeom prst="rect">
            <a:avLst/>
          </a:prstGeom>
          <a:solidFill>
            <a:srgbClr val="1F3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3840480"/>
            <a:ext cx="26060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93192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C9A04F"/>
                </a:solidFill>
                <a:latin typeface="Noto Sans CJK KR"/>
                <a:ea typeface="Noto Sans CJK KR"/>
              </a:rPr>
              <a:t>FOREST GREEN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20624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A2B4A"/>
                </a:solidFill>
                <a:latin typeface="Noto Sans CJK KR"/>
                <a:ea typeface="Noto Sans CJK KR"/>
              </a:rPr>
              <a:t>그린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57200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Noto Sans CJK KR"/>
                <a:ea typeface="Noto Sans CJK KR"/>
              </a:rPr>
              <a:t>옵션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15400" y="1920240"/>
            <a:ext cx="2606040" cy="1920240"/>
          </a:xfrm>
          <a:prstGeom prst="rect">
            <a:avLst/>
          </a:prstGeom>
          <a:solidFill>
            <a:srgbClr val="3D2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15400" y="3840480"/>
            <a:ext cx="26060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393192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C9A04F"/>
                </a:solidFill>
                <a:latin typeface="Noto Sans CJK KR"/>
                <a:ea typeface="Noto Sans CJK KR"/>
              </a:rPr>
              <a:t>LIMITED EDITION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420624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A2B4A"/>
                </a:solidFill>
                <a:latin typeface="Noto Sans CJK KR"/>
                <a:ea typeface="Noto Sans CJK KR"/>
              </a:rPr>
              <a:t>한정판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457200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Noto Sans CJK KR"/>
                <a:ea typeface="Noto Sans CJK KR"/>
              </a:rPr>
              <a:t>별도 협의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120640"/>
            <a:ext cx="11091672" cy="1188720"/>
          </a:xfrm>
          <a:prstGeom prst="rect">
            <a:avLst/>
          </a:prstGeom>
          <a:solidFill>
            <a:srgbClr val="FEF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120640"/>
            <a:ext cx="54864" cy="1188720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25780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>
                <a:solidFill>
                  <a:srgbClr val="C9A04F"/>
                </a:solidFill>
                <a:latin typeface="Noto Sans CJK KR"/>
                <a:ea typeface="Noto Sans CJK KR"/>
              </a:rPr>
              <a:t>표지 마감 사양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F2937"/>
                </a:solidFill>
                <a:latin typeface="Noto Sans CJK KR"/>
                <a:ea typeface="Noto Sans CJK KR"/>
              </a:rPr>
              <a:t>· 표지 본체: PU 양장 (제조사 추천 자재 1종 + 대안 1종 제시 요청)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F2937"/>
                </a:solidFill>
                <a:latin typeface="Noto Sans CJK KR"/>
                <a:ea typeface="Noto Sans CJK KR"/>
              </a:rPr>
              <a:t>· 박표지: 골드 박(#C9A04F 톤) + 형압(blind emboss) 인생포트폴리오 로고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F2937"/>
                </a:solidFill>
                <a:latin typeface="Noto Sans CJK KR"/>
                <a:ea typeface="Noto Sans CJK KR"/>
              </a:rPr>
              <a:t>· 측면(에지): 무가공 — 만년필 친화 + 페이지 펼침 안정성 우선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6446520"/>
            <a:ext cx="11094415" cy="45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5379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Noto Sans CJK KR"/>
                <a:ea typeface="Noto Sans CJK KR"/>
              </a:rPr>
              <a:t>Life Portfolio · 인생포트폴리오 맞춤형 다이어리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653796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Noto Sans CJK KR"/>
                <a:ea typeface="Noto Sans CJK KR"/>
              </a:rPr>
              <a:t>v1.0 · 500부 견적 요청    |    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73152" cy="411480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217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C9A04F"/>
                </a:solidFill>
                <a:latin typeface="Noto Sans CJK KR"/>
                <a:ea typeface="Noto Sans CJK KR"/>
              </a:rPr>
              <a:t>02 · 외관 사양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1A2B4A"/>
                </a:solidFill>
                <a:latin typeface="Noto Sans CJK KR"/>
                <a:ea typeface="Noto Sans CJK KR"/>
              </a:rPr>
              <a:t>종이 사양 — 만년필 친화 70g 단일 견적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566928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2800" b="1">
                <a:solidFill>
                  <a:srgbClr val="E5E7EB"/>
                </a:solidFill>
                <a:latin typeface="Noto Sans CJK KR"/>
                <a:ea typeface="Noto Sans CJK KR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828800" cy="27432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77440" y="1508760"/>
            <a:ext cx="9262872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374151"/>
                </a:solidFill>
                <a:latin typeface="Noto Sans CJK KR"/>
                <a:ea typeface="Noto Sans CJK KR"/>
              </a:rPr>
              <a:t>손글씨 다이어리 — 만년필·중성펜 친화 70g 단일 시나리오 (v1.2 확정)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68880"/>
            <a:ext cx="11091672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468880"/>
            <a:ext cx="11091672" cy="640080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15184"/>
            <a:ext cx="105430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A2B4A"/>
                </a:solidFill>
                <a:latin typeface="Noto Sans CJK KR"/>
                <a:ea typeface="Noto Sans CJK KR"/>
              </a:rPr>
              <a:t>만년필 친화 70g — 도모에리버 / OK Fools 대체재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37560"/>
            <a:ext cx="50292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1100" b="1">
                <a:solidFill>
                  <a:srgbClr val="C9A04F"/>
                </a:solidFill>
                <a:latin typeface="Noto Sans CJK KR"/>
                <a:ea typeface="Noto Sans CJK KR"/>
              </a:rPr>
              <a:t>규격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F2937"/>
                </a:solidFill>
                <a:latin typeface="Noto Sans CJK KR"/>
                <a:ea typeface="Noto Sans CJK KR"/>
              </a:rPr>
              <a:t>· 평량: 70gsm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F2937"/>
                </a:solidFill>
                <a:latin typeface="Noto Sans CJK KR"/>
                <a:ea typeface="Noto Sans CJK KR"/>
              </a:rPr>
              <a:t>· 색상: 아이보리 / 미색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F2937"/>
                </a:solidFill>
                <a:latin typeface="Noto Sans CJK KR"/>
                <a:ea typeface="Noto Sans CJK KR"/>
              </a:rPr>
              <a:t>· 두께감: 적정 — 256p 기준 책등 약 20mm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F2937"/>
                </a:solidFill>
                <a:latin typeface="Noto Sans CJK KR"/>
                <a:ea typeface="Noto Sans CJK KR"/>
              </a:rPr>
              <a:t>· 비침: 거의 없음 — 양면 필기 안정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F2937"/>
                </a:solidFill>
                <a:latin typeface="Noto Sans CJK KR"/>
                <a:ea typeface="Noto Sans CJK KR"/>
              </a:rPr>
              <a:t>· 만년필 잉크 번짐: 최소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337560"/>
            <a:ext cx="50292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1100" b="1">
                <a:solidFill>
                  <a:srgbClr val="C9A04F"/>
                </a:solidFill>
                <a:latin typeface="Noto Sans CJK KR"/>
                <a:ea typeface="Noto Sans CJK KR"/>
              </a:rPr>
              <a:t>선택 이유 (v1.2)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F2937"/>
                </a:solidFill>
                <a:latin typeface="Noto Sans CJK KR"/>
                <a:ea typeface="Noto Sans CJK KR"/>
              </a:rPr>
              <a:t>· Part 0 7항목·Part 3 자유 메모를 손글씨로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F2937"/>
                </a:solidFill>
                <a:latin typeface="Noto Sans CJK KR"/>
                <a:ea typeface="Noto Sans CJK KR"/>
              </a:rPr>
              <a:t>  채우는 "손글씨 다이어리" 컨셉 — 70g 단일 최적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F2937"/>
                </a:solidFill>
                <a:latin typeface="Noto Sans CJK KR"/>
                <a:ea typeface="Noto Sans CJK KR"/>
              </a:rPr>
              <a:t>· 80g 보급형은 만년필 사용 시 비침 발생 → 제외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F2937"/>
                </a:solidFill>
                <a:latin typeface="Noto Sans CJK KR"/>
                <a:ea typeface="Noto Sans CJK KR"/>
              </a:rPr>
              <a:t>· 256p × 70g = 휴대성 + 1년 기록 충분 (몰스킨급)</a:t>
            </a:r>
          </a:p>
          <a:p>
            <a:pPr algn="l">
              <a:lnSpc>
                <a:spcPct val="165000"/>
              </a:lnSpc>
            </a:pPr>
            <a:r>
              <a:rPr sz="1100" b="1">
                <a:solidFill>
                  <a:srgbClr val="1A2B4A"/>
                </a:solidFill>
                <a:latin typeface="Noto Sans CJK KR"/>
                <a:ea typeface="Noto Sans CJK KR"/>
              </a:rPr>
              <a:t>· 견적 단일화로 발주 의사결정 단축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94415" cy="45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379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Noto Sans CJK KR"/>
                <a:ea typeface="Noto Sans CJK KR"/>
              </a:rPr>
              <a:t>Life Portfolio · 인생포트폴리오 맞춤형 다이어리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653796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Noto Sans CJK KR"/>
                <a:ea typeface="Noto Sans CJK KR"/>
              </a:rPr>
              <a:t>v1.0 · 500부 견적 요청    |    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73152" cy="411480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217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C9A04F"/>
                </a:solidFill>
                <a:latin typeface="Noto Sans CJK KR"/>
                <a:ea typeface="Noto Sans CJK KR"/>
              </a:rPr>
              <a:t>03 · 속지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1A2B4A"/>
                </a:solidFill>
                <a:latin typeface="Noto Sans CJK KR"/>
                <a:ea typeface="Noto Sans CJK KR"/>
              </a:rPr>
              <a:t>속지 구조 개요 — Part 0 ~ Part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566928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2800" b="1">
                <a:solidFill>
                  <a:srgbClr val="E5E7EB"/>
                </a:solidFill>
                <a:latin typeface="Noto Sans CJK KR"/>
                <a:ea typeface="Noto Sans CJK KR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828800" cy="27432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77440" y="1508760"/>
            <a:ext cx="9262872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A2B4A"/>
                </a:solidFill>
                <a:latin typeface="Noto Sans CJK KR"/>
                <a:ea typeface="Noto Sans CJK KR"/>
              </a:rPr>
              <a:t>구조 원칙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731520" cy="27432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468880"/>
            <a:ext cx="530352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1100" b="0">
                <a:solidFill>
                  <a:srgbClr val="1F2937"/>
                </a:solidFill>
                <a:latin typeface="Noto Sans CJK KR"/>
                <a:ea typeface="Noto Sans CJK KR"/>
              </a:rPr>
              <a:t>· 검사 리포트 5p + 실행 프로그램 6p의 항목명을
  다이어리 빈칸 양식에 그대로 반영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F2937"/>
                </a:solidFill>
                <a:latin typeface="Noto Sans CJK KR"/>
                <a:ea typeface="Noto Sans CJK KR"/>
              </a:rPr>
              <a:t>· 4SE(자기이해·자기표현·자기설계·자기실행)와
  4라벨(본질·한 마디·키워드·결합) 공통 유지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F2937"/>
                </a:solidFill>
                <a:latin typeface="Noto Sans CJK KR"/>
                <a:ea typeface="Noto Sans CJK KR"/>
              </a:rPr>
              <a:t>· 페이지 합계 256p (16의 배수 · 16절판)
  속표지·판권 8p + 본문 248p</a:t>
            </a:r>
          </a:p>
          <a:p>
            <a:pPr algn="l">
              <a:lnSpc>
                <a:spcPct val="165000"/>
              </a:lnSpc>
            </a:pPr>
            <a:r>
              <a:rPr sz="1100" b="1">
                <a:solidFill>
                  <a:srgbClr val="1A2B4A"/>
                </a:solidFill>
                <a:latin typeface="Noto Sans CJK KR"/>
                <a:ea typeface="Noto Sans CJK KR"/>
              </a:rPr>
              <a:t>· 전 부 일반 인쇄 — VDP 없음
  Part 0 7항목은 사용자가 손글씨로 옮겨 적음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87451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A2B4A"/>
                </a:solidFill>
                <a:latin typeface="Noto Sans CJK KR"/>
                <a:ea typeface="Noto Sans CJK KR"/>
              </a:rPr>
              <a:t>Part 0 ~ Part 7 구조표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240280"/>
            <a:ext cx="731520" cy="27432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2468880"/>
            <a:ext cx="5029200" cy="36576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5328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Noto Sans CJK KR"/>
                <a:ea typeface="Noto Sans CJK KR"/>
              </a:rPr>
              <a:t>Part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5328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Noto Sans CJK KR"/>
                <a:ea typeface="Noto Sans CJK KR"/>
              </a:rPr>
              <a:t>페이지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53288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Noto Sans CJK KR"/>
                <a:ea typeface="Noto Sans CJK KR"/>
              </a:rPr>
              <a:t>내용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2834640"/>
            <a:ext cx="5029200" cy="310896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288036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1A2B4A"/>
                </a:solidFill>
                <a:latin typeface="Noto Sans CJK KR"/>
                <a:ea typeface="Noto Sans CJK KR"/>
              </a:rPr>
              <a:t>Part 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880360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374151"/>
                </a:solidFill>
                <a:latin typeface="Noto Sans CJK KR"/>
                <a:ea typeface="Noto Sans CJK KR"/>
              </a:rPr>
              <a:t>10p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880360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F2937"/>
                </a:solidFill>
                <a:latin typeface="Noto Sans CJK KR"/>
                <a:ea typeface="Noto Sans CJK KR"/>
              </a:rPr>
              <a:t>리포트 발췌 (손글씨 7항목, 4SE 2p 분할)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3145536"/>
            <a:ext cx="50292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3191256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1A2B4A"/>
                </a:solidFill>
                <a:latin typeface="Noto Sans CJK KR"/>
                <a:ea typeface="Noto Sans CJK KR"/>
              </a:rPr>
              <a:t>Part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3191256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374151"/>
                </a:solidFill>
                <a:latin typeface="Noto Sans CJK KR"/>
                <a:ea typeface="Noto Sans CJK KR"/>
              </a:rPr>
              <a:t>12p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31912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F2937"/>
                </a:solidFill>
                <a:latin typeface="Noto Sans CJK KR"/>
                <a:ea typeface="Noto Sans CJK KR"/>
              </a:rPr>
              <a:t>13영역 인생 지도 (압축)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3456432"/>
            <a:ext cx="5029200" cy="310896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350215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1A2B4A"/>
                </a:solidFill>
                <a:latin typeface="Noto Sans CJK KR"/>
                <a:ea typeface="Noto Sans CJK KR"/>
              </a:rPr>
              <a:t>연간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3502152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374151"/>
                </a:solidFill>
                <a:latin typeface="Noto Sans CJK KR"/>
                <a:ea typeface="Noto Sans CJK KR"/>
              </a:rPr>
              <a:t>2p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350215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F2937"/>
                </a:solidFill>
                <a:latin typeface="Noto Sans CJK KR"/>
                <a:ea typeface="Noto Sans CJK KR"/>
              </a:rPr>
              <a:t>1년 한눈에 (시장 표준)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3767328"/>
            <a:ext cx="50292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381304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1A2B4A"/>
                </a:solidFill>
                <a:latin typeface="Noto Sans CJK KR"/>
                <a:ea typeface="Noto Sans CJK KR"/>
              </a:rPr>
              <a:t>Part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3813048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374151"/>
                </a:solidFill>
                <a:latin typeface="Noto Sans CJK KR"/>
                <a:ea typeface="Noto Sans CJK KR"/>
              </a:rPr>
              <a:t>10p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3813048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F2937"/>
                </a:solidFill>
                <a:latin typeface="Noto Sans CJK KR"/>
                <a:ea typeface="Noto Sans CJK KR"/>
              </a:rPr>
              <a:t>연간 비전 · 90일 마일스톤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4078224"/>
            <a:ext cx="5029200" cy="310896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4123944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1A2B4A"/>
                </a:solidFill>
                <a:latin typeface="Noto Sans CJK KR"/>
                <a:ea typeface="Noto Sans CJK KR"/>
              </a:rPr>
              <a:t>월간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4123944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374151"/>
                </a:solidFill>
                <a:latin typeface="Noto Sans CJK KR"/>
                <a:ea typeface="Noto Sans CJK KR"/>
              </a:rPr>
              <a:t>24p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4123944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F2937"/>
                </a:solidFill>
                <a:latin typeface="Noto Sans CJK KR"/>
                <a:ea typeface="Noto Sans CJK KR"/>
              </a:rPr>
              <a:t>12개월 × 2p (시장 표준)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0" y="4389120"/>
            <a:ext cx="50292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443484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1A2B4A"/>
                </a:solidFill>
                <a:latin typeface="Noto Sans CJK KR"/>
                <a:ea typeface="Noto Sans CJK KR"/>
              </a:rPr>
              <a:t>Part 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0" y="4434840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374151"/>
                </a:solidFill>
                <a:latin typeface="Noto Sans CJK KR"/>
                <a:ea typeface="Noto Sans CJK KR"/>
              </a:rPr>
              <a:t>104p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4434840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F2937"/>
                </a:solidFill>
                <a:latin typeface="Noto Sans CJK KR"/>
                <a:ea typeface="Noto Sans CJK KR"/>
              </a:rPr>
              <a:t>주간 펼침면 52주 × 2p (차별점)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0" y="4700016"/>
            <a:ext cx="5029200" cy="310896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5120" y="4745736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1A2B4A"/>
                </a:solidFill>
                <a:latin typeface="Noto Sans CJK KR"/>
                <a:ea typeface="Noto Sans CJK KR"/>
              </a:rPr>
              <a:t>Part 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0960" y="4745736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374151"/>
                </a:solidFill>
                <a:latin typeface="Noto Sans CJK KR"/>
                <a:ea typeface="Noto Sans CJK KR"/>
              </a:rPr>
              <a:t>26p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0" y="474573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F2937"/>
                </a:solidFill>
                <a:latin typeface="Noto Sans CJK KR"/>
                <a:ea typeface="Noto Sans CJK KR"/>
              </a:rPr>
              <a:t>영역별 분기 회고 (압축)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0" y="5010912"/>
            <a:ext cx="50292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75120" y="50566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1A2B4A"/>
                </a:solidFill>
                <a:latin typeface="Noto Sans CJK KR"/>
                <a:ea typeface="Noto Sans CJK KR"/>
              </a:rPr>
              <a:t>Part 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0960" y="5056632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374151"/>
                </a:solidFill>
                <a:latin typeface="Noto Sans CJK KR"/>
                <a:ea typeface="Noto Sans CJK KR"/>
              </a:rPr>
              <a:t>12p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95360" y="505663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F2937"/>
                </a:solidFill>
                <a:latin typeface="Noto Sans CJK KR"/>
                <a:ea typeface="Noto Sans CJK KR"/>
              </a:rPr>
              <a:t>감사 일기 (월별)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0" y="5321808"/>
            <a:ext cx="5029200" cy="310896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75120" y="536752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1A2B4A"/>
                </a:solidFill>
                <a:latin typeface="Noto Sans CJK KR"/>
                <a:ea typeface="Noto Sans CJK KR"/>
              </a:rPr>
              <a:t>Part 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80960" y="5367528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374151"/>
                </a:solidFill>
                <a:latin typeface="Noto Sans CJK KR"/>
                <a:ea typeface="Noto Sans CJK KR"/>
              </a:rPr>
              <a:t>8p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5367528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F2937"/>
                </a:solidFill>
                <a:latin typeface="Noto Sans CJK KR"/>
                <a:ea typeface="Noto Sans CJK KR"/>
              </a:rPr>
              <a:t>1:1 코칭 약속 · 진척 기록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3680" y="5632704"/>
            <a:ext cx="50292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75120" y="5678424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1A2B4A"/>
                </a:solidFill>
                <a:latin typeface="Noto Sans CJK KR"/>
                <a:ea typeface="Noto Sans CJK KR"/>
              </a:rPr>
              <a:t>Part 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5678424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374151"/>
                </a:solidFill>
                <a:latin typeface="Noto Sans CJK KR"/>
                <a:ea typeface="Noto Sans CJK KR"/>
              </a:rPr>
              <a:t>16p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95360" y="5678424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F2937"/>
                </a:solidFill>
                <a:latin typeface="Noto Sans CJK KR"/>
                <a:ea typeface="Noto Sans CJK KR"/>
              </a:rPr>
              <a:t>부록 + 자유 메모장 8p (도트)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0" y="5943600"/>
            <a:ext cx="5029200" cy="329184"/>
          </a:xfrm>
          <a:prstGeom prst="rect">
            <a:avLst/>
          </a:prstGeom>
          <a:solidFill>
            <a:srgbClr val="FEF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5998464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1A2B4A"/>
                </a:solidFill>
                <a:latin typeface="Noto Sans CJK KR"/>
                <a:ea typeface="Noto Sans CJK KR"/>
              </a:rPr>
              <a:t>합계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80960" y="5998464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1A2B4A"/>
                </a:solidFill>
                <a:latin typeface="Noto Sans CJK KR"/>
                <a:ea typeface="Noto Sans CJK KR"/>
              </a:rPr>
              <a:t>248p + 8p = 256p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92640" y="5998464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374151"/>
                </a:solidFill>
                <a:latin typeface="Noto Sans CJK KR"/>
                <a:ea typeface="Noto Sans CJK KR"/>
              </a:rPr>
              <a:t>16의 배수 · 16절판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6446520"/>
            <a:ext cx="11094415" cy="45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8640" y="65379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Noto Sans CJK KR"/>
                <a:ea typeface="Noto Sans CJK KR"/>
              </a:rPr>
              <a:t>Life Portfolio · 인생포트폴리오 맞춤형 다이어리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0" y="653796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Noto Sans CJK KR"/>
                <a:ea typeface="Noto Sans CJK KR"/>
              </a:rPr>
              <a:t>v1.0 · 500부 견적 요청    |    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73152" cy="411480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217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C9A04F"/>
                </a:solidFill>
                <a:latin typeface="Noto Sans CJK KR"/>
                <a:ea typeface="Noto Sans CJK KR"/>
              </a:rPr>
              <a:t>03 · 속지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1A2B4A"/>
                </a:solidFill>
                <a:latin typeface="Noto Sans CJK KR"/>
                <a:ea typeface="Noto Sans CJK KR"/>
              </a:rPr>
              <a:t>Part 0 — 리포트 발췌 (손글씨 7항목 · 10p · 4SE 2p 분할)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566928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2800" b="1">
                <a:solidFill>
                  <a:srgbClr val="E5E7EB"/>
                </a:solidFill>
                <a:latin typeface="Noto Sans CJK KR"/>
                <a:ea typeface="Noto Sans CJK KR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828800" cy="27432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77440" y="1508760"/>
            <a:ext cx="9262872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2560320" cy="411480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4767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>
                <a:solidFill>
                  <a:srgbClr val="FFFFFF"/>
                </a:solidFill>
                <a:latin typeface="Noto Sans CJK KR"/>
                <a:ea typeface="Noto Sans CJK KR"/>
              </a:rPr>
              <a:t>100% 자기화 — 손글씨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965960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74151"/>
                </a:solidFill>
                <a:latin typeface="Noto Sans CJK KR"/>
                <a:ea typeface="Noto Sans CJK KR"/>
              </a:rPr>
              <a:t>사용자가 리포트 결과를 손으로 자기 다이어리에 옮겨 적는 의식 — 자기 관련 기억 +α (Mueller &amp; Oppenheimer, 2014)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A2B4A"/>
                </a:solidFill>
                <a:latin typeface="Noto Sans CJK KR"/>
                <a:ea typeface="Noto Sans CJK KR"/>
              </a:rPr>
              <a:t>빈칸 라벨 + 손글씨 영역 (7항목 × 1p)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71800"/>
            <a:ext cx="914400" cy="27432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1546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1F2937"/>
                </a:solidFill>
                <a:latin typeface="Noto Sans CJK KR"/>
                <a:ea typeface="Noto Sans CJK KR"/>
              </a:rPr>
              <a:t>1.  사명 (Mission)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1546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Noto Sans CJK KR"/>
                <a:ea typeface="Noto Sans CJK KR"/>
              </a:rPr>
              <a:t>핵심 문장 1줄 + 보조 문장 1줄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38728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1F2937"/>
                </a:solidFill>
                <a:latin typeface="Noto Sans CJK KR"/>
                <a:ea typeface="Noto Sans CJK KR"/>
              </a:rPr>
              <a:t>2.  비전 (Vision)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53872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Noto Sans CJK KR"/>
                <a:ea typeface="Noto Sans CJK KR"/>
              </a:rPr>
              <a:t>핵심 문장 1줄 + 보조 문장 1줄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922776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1F2937"/>
                </a:solidFill>
                <a:latin typeface="Noto Sans CJK KR"/>
                <a:ea typeface="Noto Sans CJK KR"/>
              </a:rPr>
              <a:t>3.  4SE 응답 강도(%)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922776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Noto Sans CJK KR"/>
                <a:ea typeface="Noto Sans CJK KR"/>
              </a:rPr>
              <a:t>자기이해 / 자기표현 / 자기설계 / 자기실행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306824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1F2937"/>
                </a:solidFill>
                <a:latin typeface="Noto Sans CJK KR"/>
                <a:ea typeface="Noto Sans CJK KR"/>
              </a:rPr>
              <a:t>4.  TOP3 강점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430682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Noto Sans CJK KR"/>
                <a:ea typeface="Noto Sans CJK KR"/>
              </a:rPr>
              <a:t>성장 가이드맵에서 발췌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69087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1F2937"/>
                </a:solidFill>
                <a:latin typeface="Noto Sans CJK KR"/>
                <a:ea typeface="Noto Sans CJK KR"/>
              </a:rPr>
              <a:t>5.  TOP2 성장 포인트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469087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Noto Sans CJK KR"/>
                <a:ea typeface="Noto Sans CJK KR"/>
              </a:rPr>
              <a:t>성장 가이드맵에서 발췌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0749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1F2937"/>
                </a:solidFill>
                <a:latin typeface="Noto Sans CJK KR"/>
                <a:ea typeface="Noto Sans CJK KR"/>
              </a:rPr>
              <a:t>6.  실행 프로파일 6필드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50749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Noto Sans CJK KR"/>
                <a:ea typeface="Noto Sans CJK KR"/>
              </a:rPr>
              <a:t>유형/스타일/추진력/몰입환경/활동/도구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458968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1F2937"/>
                </a:solidFill>
                <a:latin typeface="Noto Sans CJK KR"/>
                <a:ea typeface="Noto Sans CJK KR"/>
              </a:rPr>
              <a:t>7.  추천 진로 3카드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545896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Noto Sans CJK KR"/>
                <a:ea typeface="Noto Sans CJK KR"/>
              </a:rPr>
              <a:t>추천 진로 · 추천 교육 · 확장 방향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49440" y="2606040"/>
            <a:ext cx="4690872" cy="35204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49440" y="2606040"/>
            <a:ext cx="54864" cy="3520440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78040" y="2697480"/>
            <a:ext cx="443484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>
                <a:solidFill>
                  <a:srgbClr val="1A2B4A"/>
                </a:solidFill>
                <a:latin typeface="Noto Sans CJK KR"/>
                <a:ea typeface="Noto Sans CJK KR"/>
              </a:rPr>
              <a:t>제조사 견적 요청 사항</a:t>
            </a:r>
          </a:p>
          <a:p>
            <a:pPr algn="l">
              <a:lnSpc>
                <a:spcPct val="150000"/>
              </a:lnSpc>
            </a:pPr>
            <a:r>
              <a:rPr sz="600" b="0">
                <a:solidFill>
                  <a:srgbClr val="FFFFFF"/>
                </a:solidFill>
                <a:latin typeface="Noto Sans CJK KR"/>
                <a:ea typeface="Noto Sans CJK KR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  <a:ea typeface="Noto Sans CJK KR"/>
              </a:rPr>
              <a:t>· 70g 종이 — 손글씨 친화도 테스트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  <a:ea typeface="Noto Sans CJK KR"/>
              </a:rPr>
              <a:t>  (만년필·중성펜 번짐 없음)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  <a:ea typeface="Noto Sans CJK KR"/>
              </a:rPr>
              <a:t>· 펼침 180° 평평도 (양장 사철) — 양면 필기 안정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  <a:ea typeface="Noto Sans CJK KR"/>
              </a:rPr>
              <a:t>· 빈칸 행 간격 7mm — 손글씨 가독성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  <a:ea typeface="Noto Sans CJK KR"/>
              </a:rPr>
              <a:t>· 라벨 서체: Noto Sans CJK KR Light 9pt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  <a:ea typeface="Noto Sans CJK KR"/>
              </a:rPr>
              <a:t>· 단일 일반 인쇄 — VDP 없음, 전수량 동일</a:t>
            </a:r>
          </a:p>
          <a:p>
            <a:pPr algn="l">
              <a:lnSpc>
                <a:spcPct val="150000"/>
              </a:lnSpc>
            </a:pPr>
            <a:r>
              <a:rPr sz="600" b="0">
                <a:solidFill>
                  <a:srgbClr val="FFFFFF"/>
                </a:solidFill>
                <a:latin typeface="Noto Sans CJK KR"/>
                <a:ea typeface="Noto Sans CJK KR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000" b="1">
                <a:solidFill>
                  <a:srgbClr val="C9A04F"/>
                </a:solidFill>
                <a:latin typeface="Noto Sans CJK KR"/>
                <a:ea typeface="Noto Sans CJK KR"/>
              </a:rPr>
              <a:t>→ 사양서 PDF v1.2 §4 와 동일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6446520"/>
            <a:ext cx="11094415" cy="45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5379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Noto Sans CJK KR"/>
                <a:ea typeface="Noto Sans CJK KR"/>
              </a:rPr>
              <a:t>Life Portfolio · 인생포트폴리오 맞춤형 다이어리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653796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Noto Sans CJK KR"/>
                <a:ea typeface="Noto Sans CJK KR"/>
              </a:rPr>
              <a:t>v1.0 · 500부 견적 요청    |    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73152" cy="411480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217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C9A04F"/>
                </a:solidFill>
                <a:latin typeface="Noto Sans CJK KR"/>
                <a:ea typeface="Noto Sans CJK KR"/>
              </a:rPr>
              <a:t>03 · 속지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1A2B4A"/>
                </a:solidFill>
                <a:latin typeface="Noto Sans CJK KR"/>
                <a:ea typeface="Noto Sans CJK KR"/>
              </a:rPr>
              <a:t>Part 1 · 2 — 13영역 인생지도 + 연간 비전 (28p)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566928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2800" b="1">
                <a:solidFill>
                  <a:srgbClr val="E5E7EB"/>
                </a:solidFill>
                <a:latin typeface="Noto Sans CJK KR"/>
                <a:ea typeface="Noto Sans CJK KR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828800" cy="27432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77440" y="1508760"/>
            <a:ext cx="9262872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548640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5486400" cy="54864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84248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FFFFFF"/>
                </a:solidFill>
                <a:latin typeface="Noto Sans CJK KR"/>
                <a:ea typeface="Noto Sans CJK KR"/>
              </a:rPr>
              <a:t>Part 1 — 13영역 인생 지도 (16p)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502920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1">
                <a:solidFill>
                  <a:srgbClr val="1A2B4A"/>
                </a:solidFill>
                <a:latin typeface="Noto Sans CJK KR"/>
                <a:ea typeface="Noto Sans CJK KR"/>
              </a:rPr>
              <a:t>페이지 구성</a:t>
            </a:r>
          </a:p>
          <a:p>
            <a:pPr algn="l">
              <a:lnSpc>
                <a:spcPct val="155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  <a:ea typeface="Noto Sans CJK KR"/>
              </a:rPr>
              <a:t>· 13영역 명칭만 인쇄 (인생포트폴리오 IP)</a:t>
            </a:r>
          </a:p>
          <a:p>
            <a:pPr algn="l">
              <a:lnSpc>
                <a:spcPct val="155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  <a:ea typeface="Noto Sans CJK KR"/>
              </a:rPr>
              <a:t>· 점수 칸 / 메모 칸은 빈칸</a:t>
            </a:r>
          </a:p>
          <a:p>
            <a:pPr algn="l">
              <a:lnSpc>
                <a:spcPct val="155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  <a:ea typeface="Noto Sans CJK KR"/>
              </a:rPr>
              <a:t>· 1영역당 약 1.2p 할당</a:t>
            </a:r>
          </a:p>
          <a:p>
            <a:pPr algn="l">
              <a:lnSpc>
                <a:spcPct val="155000"/>
              </a:lnSpc>
            </a:pPr>
            <a:r>
              <a:rPr sz="600" b="0">
                <a:solidFill>
                  <a:srgbClr val="FFFFFF"/>
                </a:solidFill>
                <a:latin typeface="Noto Sans CJK KR"/>
                <a:ea typeface="Noto Sans CJK KR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100" b="1">
                <a:solidFill>
                  <a:srgbClr val="1A2B4A"/>
                </a:solidFill>
                <a:latin typeface="Noto Sans CJK KR"/>
                <a:ea typeface="Noto Sans CJK KR"/>
              </a:rPr>
              <a:t>13영역 라벨 (보고서 6.2 그대로)</a:t>
            </a:r>
          </a:p>
          <a:p>
            <a:pPr algn="l">
              <a:lnSpc>
                <a:spcPct val="155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신앙·소명 / 가족·관계 / 직업·경력</a:t>
            </a:r>
          </a:p>
          <a:p>
            <a:pPr algn="l">
              <a:lnSpc>
                <a:spcPct val="155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재정·자산 / 건강·체력 / 학습·성장</a:t>
            </a:r>
          </a:p>
          <a:p>
            <a:pPr algn="l">
              <a:lnSpc>
                <a:spcPct val="155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취미·여가 / 봉사·기여 / 자기관리</a:t>
            </a:r>
          </a:p>
          <a:p>
            <a:pPr algn="l">
              <a:lnSpc>
                <a:spcPct val="155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거주·환경 / 인간관계 / 정서·내면 / 유산·미래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874519"/>
            <a:ext cx="548640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874519"/>
            <a:ext cx="5486400" cy="54864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984248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FFFFFF"/>
                </a:solidFill>
                <a:latin typeface="Noto Sans CJK KR"/>
                <a:ea typeface="Noto Sans CJK KR"/>
              </a:rPr>
              <a:t>Part 2 — 연간 비전 · 90일 마일스톤 (12p)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606040"/>
            <a:ext cx="502920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1">
                <a:solidFill>
                  <a:srgbClr val="1A2B4A"/>
                </a:solidFill>
                <a:latin typeface="Noto Sans CJK KR"/>
                <a:ea typeface="Noto Sans CJK KR"/>
              </a:rPr>
              <a:t>페이지 구성</a:t>
            </a:r>
          </a:p>
          <a:p>
            <a:pPr algn="l">
              <a:lnSpc>
                <a:spcPct val="155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  <a:ea typeface="Noto Sans CJK KR"/>
              </a:rPr>
              <a:t>· “VISION” 박스 + “분기 마일스톤 3개” 라벨만 인쇄</a:t>
            </a:r>
          </a:p>
          <a:p>
            <a:pPr algn="l">
              <a:lnSpc>
                <a:spcPct val="155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  <a:ea typeface="Noto Sans CJK KR"/>
              </a:rPr>
              <a:t>· 빈칸은 사용자가 검사 리포트 비전 카드 보고 옮겨 적음</a:t>
            </a:r>
          </a:p>
          <a:p>
            <a:pPr algn="l">
              <a:lnSpc>
                <a:spcPct val="155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  <a:ea typeface="Noto Sans CJK KR"/>
              </a:rPr>
              <a:t>· Hyatt 스타일 — 연간 → 분기 → 90일 분할</a:t>
            </a:r>
          </a:p>
          <a:p>
            <a:pPr algn="l">
              <a:lnSpc>
                <a:spcPct val="155000"/>
              </a:lnSpc>
            </a:pPr>
            <a:r>
              <a:rPr sz="600" b="0">
                <a:solidFill>
                  <a:srgbClr val="FFFFFF"/>
                </a:solidFill>
                <a:latin typeface="Noto Sans CJK KR"/>
                <a:ea typeface="Noto Sans CJK KR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100" b="1">
                <a:solidFill>
                  <a:srgbClr val="1A2B4A"/>
                </a:solidFill>
                <a:latin typeface="Noto Sans CJK KR"/>
                <a:ea typeface="Noto Sans CJK KR"/>
              </a:rPr>
              <a:t>매핑되는 검사 리포트 항목</a:t>
            </a:r>
          </a:p>
          <a:p>
            <a:pPr algn="l">
              <a:lnSpc>
                <a:spcPct val="155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· 리포트 페이지 1 — 비전 카드의 핵심·보조 문장</a:t>
            </a:r>
          </a:p>
          <a:p>
            <a:pPr algn="l">
              <a:lnSpc>
                <a:spcPct val="155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· 실행 프로그램 페이지 1 — 분기 테마 카드 1개</a:t>
            </a:r>
          </a:p>
          <a:p>
            <a:pPr algn="l">
              <a:lnSpc>
                <a:spcPct val="155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· 실행 프로그램 페이지 3 — 3개월 카드 3개</a:t>
            </a:r>
          </a:p>
          <a:p>
            <a:pPr algn="l">
              <a:lnSpc>
                <a:spcPct val="155000"/>
              </a:lnSpc>
            </a:pPr>
            <a:r>
              <a:rPr sz="600" b="0">
                <a:solidFill>
                  <a:srgbClr val="FFFFFF"/>
                </a:solidFill>
                <a:latin typeface="Noto Sans CJK KR"/>
                <a:ea typeface="Noto Sans CJK KR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050" b="1">
                <a:solidFill>
                  <a:srgbClr val="C9A04F"/>
                </a:solidFill>
                <a:latin typeface="Noto Sans CJK KR"/>
                <a:ea typeface="Noto Sans CJK KR"/>
              </a:rPr>
              <a:t>→ 라벨·항목명 운영 PDF와 100% 정합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46520"/>
            <a:ext cx="11094415" cy="45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5379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Noto Sans CJK KR"/>
                <a:ea typeface="Noto Sans CJK KR"/>
              </a:rPr>
              <a:t>Life Portfolio · 인생포트폴리오 맞춤형 다이어리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653796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Noto Sans CJK KR"/>
                <a:ea typeface="Noto Sans CJK KR"/>
              </a:rPr>
              <a:t>v1.0 · 500부 견적 요청    |    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73152" cy="411480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217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C9A04F"/>
                </a:solidFill>
                <a:latin typeface="Noto Sans CJK KR"/>
                <a:ea typeface="Noto Sans CJK KR"/>
              </a:rPr>
              <a:t>03 · 속지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1A2B4A"/>
                </a:solidFill>
                <a:latin typeface="Noto Sans CJK KR"/>
                <a:ea typeface="Noto Sans CJK KR"/>
              </a:rPr>
              <a:t>Part 3 — 주간 펼침면 52주 × 2p (104p)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566928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2800" b="1">
                <a:solidFill>
                  <a:srgbClr val="E5E7EB"/>
                </a:solidFill>
                <a:latin typeface="Noto Sans CJK KR"/>
                <a:ea typeface="Noto Sans CJK KR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828800" cy="27432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77440" y="1508760"/>
            <a:ext cx="9262872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74151"/>
                </a:solidFill>
                <a:latin typeface="Noto Sans CJK KR"/>
                <a:ea typeface="Noto Sans CJK KR"/>
              </a:rPr>
              <a:t>몰스킨 위클리 + 프랭클린 우선순위 하이브리드 — 좌측 계획 / 우측 메모 (자체 IP 5대 차별화 적용)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77440"/>
            <a:ext cx="5394960" cy="3611880"/>
          </a:xfrm>
          <a:prstGeom prst="rect">
            <a:avLst/>
          </a:prstGeom>
          <a:solidFill>
            <a:srgbClr val="F9FAFB"/>
          </a:solidFill>
          <a:ln w="889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45059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C9A04F"/>
                </a:solidFill>
                <a:latin typeface="Noto Sans CJK KR"/>
                <a:ea typeface="Noto Sans CJK KR"/>
              </a:rPr>
              <a:t>LEFT — 이번 주 우선순위 · 일정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88336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A2B4A"/>
                </a:solidFill>
                <a:latin typeface="Noto Sans CJK KR"/>
                <a:ea typeface="Noto Sans CJK KR"/>
              </a:rPr>
              <a:t>Week ##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063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>
                <a:solidFill>
                  <a:srgbClr val="C9A04F"/>
                </a:solidFill>
                <a:latin typeface="Noto Sans CJK KR"/>
                <a:ea typeface="Noto Sans CJK KR"/>
              </a:rPr>
              <a:t>① 이번 주 사명 (1줄)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3310128"/>
            <a:ext cx="5029200" cy="700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42900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>
                <a:solidFill>
                  <a:srgbClr val="C9A04F"/>
                </a:solidFill>
                <a:latin typeface="Noto Sans CJK KR"/>
                <a:ea typeface="Noto Sans CJK KR"/>
              </a:rPr>
              <a:t>② A · B · C 우선순위 (프랭클린 참고)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3675888"/>
            <a:ext cx="256032" cy="201168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666744"/>
            <a:ext cx="256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</a:rPr>
              <a:t>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80160" y="3840480"/>
            <a:ext cx="4709160" cy="35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60120" y="3931920"/>
            <a:ext cx="256032" cy="201168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922776"/>
            <a:ext cx="256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80160" y="4096512"/>
            <a:ext cx="4709160" cy="35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0120" y="4187952"/>
            <a:ext cx="256032" cy="201168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178808"/>
            <a:ext cx="256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</a:rPr>
              <a:t>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80160" y="4352544"/>
            <a:ext cx="4709160" cy="35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52628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>
                <a:solidFill>
                  <a:srgbClr val="C9A04F"/>
                </a:solidFill>
                <a:latin typeface="Noto Sans CJK KR"/>
                <a:ea typeface="Noto Sans CJK KR"/>
              </a:rPr>
              <a:t>③ If-Then 3개 (Gollwitzer 실행 의도)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4892040"/>
            <a:ext cx="4846320" cy="35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43000" y="5093208"/>
            <a:ext cx="4846320" cy="35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5294376"/>
            <a:ext cx="4846320" cy="35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41324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>
                <a:solidFill>
                  <a:srgbClr val="C9A04F"/>
                </a:solidFill>
                <a:latin typeface="Noto Sans CJK KR"/>
                <a:ea typeface="Noto Sans CJK KR"/>
              </a:rPr>
              <a:t>④ 요일별 일정 (월→일 간소)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6235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74151"/>
                </a:solidFill>
                <a:latin typeface="Noto Sans CJK KR"/>
                <a:ea typeface="Noto Sans CJK KR"/>
              </a:rPr>
              <a:t>월 · 화 · 수 · 목 · 금 · 토 · 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80" y="2377440"/>
            <a:ext cx="5394960" cy="3611880"/>
          </a:xfrm>
          <a:prstGeom prst="rect">
            <a:avLst/>
          </a:prstGeom>
          <a:solidFill>
            <a:srgbClr val="F9FAFB"/>
          </a:solidFill>
          <a:ln w="889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245059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C9A04F"/>
                </a:solidFill>
                <a:latin typeface="Noto Sans CJK KR"/>
                <a:ea typeface="Noto Sans CJK KR"/>
              </a:rPr>
              <a:t>RIGHT — 자유 메모 + 이번 주 회고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2688336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A2B4A"/>
                </a:solidFill>
                <a:latin typeface="Noto Sans CJK KR"/>
                <a:ea typeface="Noto Sans CJK KR"/>
              </a:rPr>
              <a:t>도트 그리드 7mm + 회고 3줄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315468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>
                <a:solidFill>
                  <a:srgbClr val="C9A04F"/>
                </a:solidFill>
                <a:latin typeface="Noto Sans CJK KR"/>
                <a:ea typeface="Noto Sans CJK KR"/>
              </a:rPr>
              <a:t>· 7mm 도트 그리드 자유 메모 영역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37960" y="3429000"/>
            <a:ext cx="5029200" cy="160020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20840" y="35935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976872" y="35935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232904" y="35935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488936" y="35935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744968" y="35935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01000" y="35935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57032" y="35935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13064" y="35935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769096" y="35935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25128" y="35935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281160" y="35935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537192" y="35935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793224" y="35935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049256" y="35935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305288" y="35935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561320" y="35935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817352" y="35935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073384" y="35935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720840" y="37764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976872" y="37764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232904" y="37764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488936" y="37764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44968" y="37764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001000" y="37764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257032" y="37764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513064" y="37764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769096" y="37764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025128" y="37764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281160" y="37764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537192" y="37764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793224" y="37764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049256" y="37764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305288" y="37764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561320" y="37764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817352" y="37764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073384" y="37764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20840" y="39593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976872" y="39593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232904" y="39593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488936" y="39593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44968" y="39593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001000" y="39593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257032" y="39593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513064" y="39593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769096" y="39593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025128" y="39593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281160" y="39593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537192" y="39593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793224" y="39593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049256" y="39593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305288" y="39593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561320" y="39593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817352" y="39593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1073384" y="39593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720840" y="414223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976872" y="414223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232904" y="414223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488936" y="414223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744968" y="414223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001000" y="414223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257032" y="414223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513064" y="414223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769096" y="414223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9025128" y="414223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281160" y="414223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9537192" y="414223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793224" y="414223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049256" y="414223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305288" y="414223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561320" y="414223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0817352" y="414223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1073384" y="414223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720840" y="432511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6976872" y="432511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7232904" y="432511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7488936" y="432511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7744968" y="432511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8001000" y="432511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8257032" y="432511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513064" y="432511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8769096" y="432511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025128" y="432511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281160" y="432511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537192" y="432511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793224" y="432511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0049256" y="432511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0305288" y="432511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0561320" y="432511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0817352" y="432511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1073384" y="432511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6720840" y="45079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6976872" y="45079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7232904" y="45079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7488936" y="45079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7744968" y="45079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8001000" y="45079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8257032" y="45079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8513064" y="45079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8769096" y="45079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9025128" y="45079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9281160" y="45079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9537192" y="45079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9793224" y="45079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10049256" y="45079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10305288" y="45079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0561320" y="45079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0817352" y="45079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1073384" y="450799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6720840" y="46908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6976872" y="46908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7232904" y="46908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7488936" y="46908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7744968" y="46908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8001000" y="46908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8257032" y="46908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8513064" y="46908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8769096" y="46908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9025128" y="46908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9281160" y="46908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9537192" y="46908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9793224" y="46908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10049256" y="46908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10305288" y="46908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10561320" y="46908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10817352" y="46908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11073384" y="469087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720840" y="48737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76872" y="48737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7232904" y="48737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488936" y="48737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744968" y="48737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8001000" y="48737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8257032" y="48737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8513064" y="48737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8769096" y="48737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9025128" y="48737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9281160" y="48737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9537192" y="48737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9793224" y="48737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10049256" y="48737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10305288" y="48737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10561320" y="48737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10817352" y="48737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11073384" y="4873752"/>
            <a:ext cx="20000" cy="20000"/>
          </a:xfrm>
          <a:prstGeom prst="rect">
            <a:avLst/>
          </a:prstGeom>
          <a:solidFill>
            <a:srgbClr val="C0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6537960" y="516636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>
                <a:solidFill>
                  <a:srgbClr val="C9A04F"/>
                </a:solidFill>
                <a:latin typeface="Noto Sans CJK KR"/>
                <a:ea typeface="Noto Sans CJK KR"/>
              </a:rPr>
              <a:t>⑤ 이번 주 회고 3줄 (자체 IP)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6537960" y="5394960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>
                <a:solidFill>
                  <a:srgbClr val="1A2B4A"/>
                </a:solidFill>
                <a:latin typeface="Noto Sans CJK KR"/>
                <a:ea typeface="Noto Sans CJK KR"/>
              </a:rPr>
              <a:t>잘된 것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7360920" y="5532120"/>
            <a:ext cx="4206240" cy="35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6537960" y="5596128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>
                <a:solidFill>
                  <a:srgbClr val="1A2B4A"/>
                </a:solidFill>
                <a:latin typeface="Noto Sans CJK KR"/>
                <a:ea typeface="Noto Sans CJK KR"/>
              </a:rPr>
              <a:t>배운 것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7360920" y="5733288"/>
            <a:ext cx="4206240" cy="35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6537960" y="5797296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>
                <a:solidFill>
                  <a:srgbClr val="1A2B4A"/>
                </a:solidFill>
                <a:latin typeface="Noto Sans CJK KR"/>
                <a:ea typeface="Noto Sans CJK KR"/>
              </a:rPr>
              <a:t>다음 주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7360920" y="5934456"/>
            <a:ext cx="4206240" cy="35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777240" y="6126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B7280"/>
                </a:solidFill>
                <a:latin typeface="Noto Sans CJK KR"/>
                <a:ea typeface="Noto Sans CJK KR"/>
              </a:rPr>
              <a:t>자체 IP 차별화: ① 주간 사명 · ② 프랭클린 우선순위 · ③ Gollwitzer If-Then · ④ 몰스킨 서셋 · ⑤ 자체 3줄 회고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548640" y="6446520"/>
            <a:ext cx="11094415" cy="45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548640" y="65379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Noto Sans CJK KR"/>
                <a:ea typeface="Noto Sans CJK KR"/>
              </a:rPr>
              <a:t>Life Portfolio · 인생포트폴리오 맞춤형 다이어리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7315200" y="653796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Noto Sans CJK KR"/>
                <a:ea typeface="Noto Sans CJK KR"/>
              </a:rPr>
              <a:t>v1.0 · 500부 견적 요청    |    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73152" cy="411480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217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C9A04F"/>
                </a:solidFill>
                <a:latin typeface="Noto Sans CJK KR"/>
                <a:ea typeface="Noto Sans CJK KR"/>
              </a:rPr>
              <a:t>03 · 속지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1A2B4A"/>
                </a:solidFill>
                <a:latin typeface="Noto Sans CJK KR"/>
                <a:ea typeface="Noto Sans CJK KR"/>
              </a:rPr>
              <a:t>Part 4 · 5 — 분기 회고 + 감사 일기 (64p)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566928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2800" b="1">
                <a:solidFill>
                  <a:srgbClr val="E5E7EB"/>
                </a:solidFill>
                <a:latin typeface="Noto Sans CJK KR"/>
                <a:ea typeface="Noto Sans CJK KR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828800" cy="27432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77440" y="1508760"/>
            <a:ext cx="9262872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548640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5486400" cy="54864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84248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FFFFFF"/>
                </a:solidFill>
                <a:latin typeface="Noto Sans CJK KR"/>
                <a:ea typeface="Noto Sans CJK KR"/>
              </a:rPr>
              <a:t>Part 4 — 영역별 분기 회고 (4p × 13 = 52p)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502920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>
                <a:solidFill>
                  <a:srgbClr val="1A2B4A"/>
                </a:solidFill>
                <a:latin typeface="Noto Sans CJK KR"/>
                <a:ea typeface="Noto Sans CJK KR"/>
              </a:rPr>
              <a:t>구성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  <a:ea typeface="Noto Sans CJK KR"/>
              </a:rPr>
              <a:t>· 영역명 인쇄(인생포트폴리오 13영역)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  <a:ea typeface="Noto Sans CJK KR"/>
              </a:rPr>
              <a:t>· Pennebaker 표현적 글쓰기 4문항 빈칸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  <a:ea typeface="Noto Sans CJK KR"/>
              </a:rPr>
              <a:t>· 1영역당 4p (분기당 1p 회고)</a:t>
            </a:r>
          </a:p>
          <a:p>
            <a:pPr algn="l">
              <a:lnSpc>
                <a:spcPct val="150000"/>
              </a:lnSpc>
            </a:pPr>
            <a:r>
              <a:rPr sz="600" b="0">
                <a:solidFill>
                  <a:srgbClr val="FFFFFF"/>
                </a:solidFill>
                <a:latin typeface="Noto Sans CJK KR"/>
                <a:ea typeface="Noto Sans CJK KR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1A2B4A"/>
                </a:solidFill>
                <a:latin typeface="Noto Sans CJK KR"/>
                <a:ea typeface="Noto Sans CJK KR"/>
              </a:rPr>
              <a:t>Pennebaker 4문항(고정 라벨)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Q1. 지난 분기 이 영역에서 일어난 사건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Q2. 그때 느낀 감정과 생각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Q3. 그것이 내게 의미하는 바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Q4. 다음 분기의 의도와 행동</a:t>
            </a:r>
          </a:p>
          <a:p>
            <a:pPr algn="l">
              <a:lnSpc>
                <a:spcPct val="150000"/>
              </a:lnSpc>
            </a:pPr>
            <a:r>
              <a:rPr sz="600" b="0">
                <a:solidFill>
                  <a:srgbClr val="FFFFFF"/>
                </a:solidFill>
                <a:latin typeface="Noto Sans CJK KR"/>
                <a:ea typeface="Noto Sans CJK KR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6B7280"/>
                </a:solidFill>
                <a:latin typeface="Noto Sans CJK KR"/>
                <a:ea typeface="Noto Sans CJK KR"/>
              </a:rPr>
              <a:t>근거: Pennebaker(1986) — Expressive Writing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874519"/>
            <a:ext cx="548640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874519"/>
            <a:ext cx="5486400" cy="54864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984248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FFFFFF"/>
                </a:solidFill>
                <a:latin typeface="Noto Sans CJK KR"/>
                <a:ea typeface="Noto Sans CJK KR"/>
              </a:rPr>
              <a:t>Part 5 — 감사 일기 월별 (12p)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606040"/>
            <a:ext cx="502920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>
                <a:solidFill>
                  <a:srgbClr val="1A2B4A"/>
                </a:solidFill>
                <a:latin typeface="Noto Sans CJK KR"/>
                <a:ea typeface="Noto Sans CJK KR"/>
              </a:rPr>
              <a:t>구성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  <a:ea typeface="Noto Sans CJK KR"/>
              </a:rPr>
              <a:t>· 월 1p (12개월)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  <a:ea typeface="Noto Sans CJK KR"/>
              </a:rPr>
              <a:t>· 라벨 "이번 달 감사 3가지" 인쇄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  <a:ea typeface="Noto Sans CJK KR"/>
              </a:rPr>
              <a:t>· 빈칸 3줄 + 우측 짧은 메모 칸</a:t>
            </a:r>
          </a:p>
          <a:p>
            <a:pPr algn="l">
              <a:lnSpc>
                <a:spcPct val="150000"/>
              </a:lnSpc>
            </a:pPr>
            <a:r>
              <a:rPr sz="600" b="0">
                <a:solidFill>
                  <a:srgbClr val="FFFFFF"/>
                </a:solidFill>
                <a:latin typeface="Noto Sans CJK KR"/>
                <a:ea typeface="Noto Sans CJK KR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1A2B4A"/>
                </a:solidFill>
                <a:latin typeface="Noto Sans CJK KR"/>
                <a:ea typeface="Noto Sans CJK KR"/>
              </a:rPr>
              <a:t>디자인 원칙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· 페이지 상단에 월 / 년 표기만 인쇄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· 빈 공간 비율 70% 이상 — 사용자 공간 확보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· 골드 라인 1줄로 시각적 분리</a:t>
            </a:r>
          </a:p>
          <a:p>
            <a:pPr algn="l">
              <a:lnSpc>
                <a:spcPct val="150000"/>
              </a:lnSpc>
            </a:pPr>
            <a:r>
              <a:rPr sz="600" b="0">
                <a:solidFill>
                  <a:srgbClr val="FFFFFF"/>
                </a:solidFill>
                <a:latin typeface="Noto Sans CJK KR"/>
                <a:ea typeface="Noto Sans CJK KR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6B7280"/>
                </a:solidFill>
                <a:latin typeface="Noto Sans CJK KR"/>
                <a:ea typeface="Noto Sans CJK KR"/>
              </a:rPr>
              <a:t>근거: Cregg &amp; Cheavens(2024) — Gratitude RCT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46520"/>
            <a:ext cx="11094415" cy="45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5379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Noto Sans CJK KR"/>
                <a:ea typeface="Noto Sans CJK KR"/>
              </a:rPr>
              <a:t>Life Portfolio · 인생포트폴리오 맞춤형 다이어리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653796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Noto Sans CJK KR"/>
                <a:ea typeface="Noto Sans CJK KR"/>
              </a:rPr>
              <a:t>v1.0 · 500부 견적 요청    |    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73152" cy="411480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217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C9A04F"/>
                </a:solidFill>
                <a:latin typeface="Noto Sans CJK KR"/>
                <a:ea typeface="Noto Sans CJK KR"/>
              </a:rPr>
              <a:t>03 · 속지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1A2B4A"/>
                </a:solidFill>
                <a:latin typeface="Noto Sans CJK KR"/>
                <a:ea typeface="Noto Sans CJK KR"/>
              </a:rPr>
              <a:t>Part 6 · 7 — 1:1 코칭 기록 + 부록 (20p)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566928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2800" b="1">
                <a:solidFill>
                  <a:srgbClr val="E5E7EB"/>
                </a:solidFill>
                <a:latin typeface="Noto Sans CJK KR"/>
                <a:ea typeface="Noto Sans CJK KR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828800" cy="27432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77440" y="1508760"/>
            <a:ext cx="9262872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548640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5486400" cy="54864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84248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FFFFFF"/>
                </a:solidFill>
                <a:latin typeface="Noto Sans CJK KR"/>
                <a:ea typeface="Noto Sans CJK KR"/>
              </a:rPr>
              <a:t>Part 6 — 1:1 코칭 약속 · 진척 기록 (8p)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1A2B4A"/>
                </a:solidFill>
                <a:latin typeface="Noto Sans CJK KR"/>
                <a:ea typeface="Noto Sans CJK KR"/>
              </a:rPr>
              <a:t>성과 추적 보드 — 4컬럼 표 (실행 프로그램 PDF p4 동일)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017520"/>
            <a:ext cx="640080" cy="36576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09067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1">
                <a:solidFill>
                  <a:srgbClr val="FFFFFF"/>
                </a:solidFill>
                <a:latin typeface="Noto Sans CJK KR"/>
                <a:ea typeface="Noto Sans CJK KR"/>
              </a:rPr>
              <a:t>주차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17320" y="3017520"/>
            <a:ext cx="2011680" cy="36576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309067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1">
                <a:solidFill>
                  <a:srgbClr val="FFFFFF"/>
                </a:solidFill>
                <a:latin typeface="Noto Sans CJK KR"/>
                <a:ea typeface="Noto Sans CJK KR"/>
              </a:rPr>
              <a:t>실행 과제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9000" y="3017520"/>
            <a:ext cx="914400" cy="36576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0" y="30906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1">
                <a:solidFill>
                  <a:srgbClr val="FFFFFF"/>
                </a:solidFill>
                <a:latin typeface="Noto Sans CJK KR"/>
                <a:ea typeface="Noto Sans CJK KR"/>
              </a:rPr>
              <a:t>완료(Y/N)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3017520"/>
            <a:ext cx="1463040" cy="36576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309067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1">
                <a:solidFill>
                  <a:srgbClr val="FFFFFF"/>
                </a:solidFill>
                <a:latin typeface="Noto Sans CJK KR"/>
                <a:ea typeface="Noto Sans CJK KR"/>
              </a:rPr>
              <a:t>성찰 메모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383280"/>
            <a:ext cx="640080" cy="320040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417320" y="3383280"/>
            <a:ext cx="2011680" cy="320040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29000" y="3383280"/>
            <a:ext cx="914400" cy="320040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3383280"/>
            <a:ext cx="1463040" cy="320040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3703320"/>
            <a:ext cx="64008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417320" y="3703320"/>
            <a:ext cx="201168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29000" y="3703320"/>
            <a:ext cx="91440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3703320"/>
            <a:ext cx="14630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023360"/>
            <a:ext cx="640080" cy="320040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17320" y="4023360"/>
            <a:ext cx="2011680" cy="320040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29000" y="4023360"/>
            <a:ext cx="914400" cy="320040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43400" y="4023360"/>
            <a:ext cx="1463040" cy="320040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343400"/>
            <a:ext cx="64008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417320" y="4343400"/>
            <a:ext cx="201168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29000" y="4343400"/>
            <a:ext cx="91440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43400" y="4343400"/>
            <a:ext cx="14630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7240" y="4663440"/>
            <a:ext cx="640080" cy="320040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417320" y="4663440"/>
            <a:ext cx="2011680" cy="320040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29000" y="4663440"/>
            <a:ext cx="914400" cy="320040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43400" y="4663440"/>
            <a:ext cx="1463040" cy="320040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" y="4983480"/>
            <a:ext cx="64008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417320" y="4983480"/>
            <a:ext cx="201168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429000" y="4983480"/>
            <a:ext cx="91440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43400" y="4983480"/>
            <a:ext cx="14630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548640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6B7280"/>
                </a:solidFill>
                <a:latin typeface="Noto Sans CJK KR"/>
                <a:ea typeface="Noto Sans CJK KR"/>
              </a:rPr>
              <a:t>근거: Matthews(2007) Group 5 — 글로 쓴 목표 + 친구에게 약속·진척 보고 시 달성률 +78%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1874519"/>
            <a:ext cx="548640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17920" y="1874519"/>
            <a:ext cx="5486400" cy="54864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1984248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FFFFFF"/>
                </a:solidFill>
                <a:latin typeface="Noto Sans CJK KR"/>
                <a:ea typeface="Noto Sans CJK KR"/>
              </a:rPr>
              <a:t>Part 7 — 부록 (12p)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2606040"/>
            <a:ext cx="502920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>
                <a:solidFill>
                  <a:srgbClr val="1A2B4A"/>
                </a:solidFill>
                <a:latin typeface="Noto Sans CJK KR"/>
                <a:ea typeface="Noto Sans CJK KR"/>
              </a:rPr>
              <a:t>구성 — 라벨만 인쇄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  <a:ea typeface="Noto Sans CJK KR"/>
              </a:rPr>
              <a:t>· 성경구절 또는 명언 모음 (4p)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  <a:ea typeface="Noto Sans CJK KR"/>
              </a:rPr>
              <a:t>· 13영역 참고 가이드 (4p)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  <a:ea typeface="Noto Sans CJK KR"/>
              </a:rPr>
              <a:t>· 사용 가이드 요약 (2p)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  <a:ea typeface="Noto Sans CJK KR"/>
              </a:rPr>
              <a:t>· 연락처 / 라이선스 / 색인 (2p)</a:t>
            </a:r>
          </a:p>
          <a:p>
            <a:pPr algn="l">
              <a:lnSpc>
                <a:spcPct val="150000"/>
              </a:lnSpc>
            </a:pPr>
            <a:r>
              <a:rPr sz="600" b="0">
                <a:solidFill>
                  <a:srgbClr val="FFFFFF"/>
                </a:solidFill>
                <a:latin typeface="Noto Sans CJK KR"/>
                <a:ea typeface="Noto Sans CJK KR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1A2B4A"/>
                </a:solidFill>
                <a:latin typeface="Noto Sans CJK KR"/>
                <a:ea typeface="Noto Sans CJK KR"/>
              </a:rPr>
              <a:t>신학 안전 표현 원칙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· "성경구절 또는 명언 선택 가능" 중립 표현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· Frankl·Dik·Wrzesniewski 등 학술 인용은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  Pre-evangelism / Common Grace 영역에서 안전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· 자기 너머의 부름을 명시적 vocation으로 동일시 않음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6446520"/>
            <a:ext cx="11094415" cy="45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65379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Noto Sans CJK KR"/>
                <a:ea typeface="Noto Sans CJK KR"/>
              </a:rPr>
              <a:t>Life Portfolio · 인생포트폴리오 맞춤형 다이어리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0" y="653796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Noto Sans CJK KR"/>
                <a:ea typeface="Noto Sans CJK KR"/>
              </a:rPr>
              <a:t>v1.0 · 500부 견적 요청    |    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73152" cy="411480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217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C9A04F"/>
                </a:solidFill>
                <a:latin typeface="Noto Sans CJK KR"/>
                <a:ea typeface="Noto Sans CJK KR"/>
              </a:rPr>
              <a:t>04 · 인쇄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1A2B4A"/>
                </a:solidFill>
                <a:latin typeface="Noto Sans CJK KR"/>
                <a:ea typeface="Noto Sans CJK KR"/>
              </a:rPr>
              <a:t>인쇄 구조 — 단일 일반 인쇄 (Single-Layer Print)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566928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2800" b="1">
                <a:solidFill>
                  <a:srgbClr val="E5E7EB"/>
                </a:solidFill>
                <a:latin typeface="Noto Sans CJK KR"/>
                <a:ea typeface="Noto Sans CJK KR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828800" cy="27432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77440" y="1508760"/>
            <a:ext cx="9262872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74151"/>
                </a:solidFill>
                <a:latin typeface="Noto Sans CJK KR"/>
                <a:ea typeface="Noto Sans CJK KR"/>
              </a:rPr>
              <a:t>다이어리 1권 = 전 페이지 동일 일반 인쇄 (속표지·판권 8p + 내지 224p). 구매자별 개인화는 사용자가 손글씨로 수행.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68880"/>
            <a:ext cx="11091672" cy="18288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468880"/>
            <a:ext cx="91440" cy="182880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3347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1A2B4A"/>
                </a:solidFill>
                <a:latin typeface="Noto Sans CJK KR"/>
                <a:ea typeface="Noto Sans CJK KR"/>
              </a:rPr>
              <a:t>SINGLE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A2B4A"/>
                </a:solidFill>
                <a:latin typeface="Noto Sans CJK KR"/>
                <a:ea typeface="Noto Sans CJK KR"/>
              </a:rPr>
              <a:t>일반 인쇄 — 빈칸 양식 (라벨만 인쇄 / 사용자가 손글씨로 채움)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2900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  <a:ea typeface="Noto Sans CJK KR"/>
              </a:rPr>
              <a:t>· 적용 범위: Part 0 (8p) — 7항목 빈칸 + Part 1~7 (224p) 전부 동일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  <a:ea typeface="Noto Sans CJK KR"/>
              </a:rPr>
              <a:t>· 장점: 단일 인쇄 = 단가 안정, 제조사 교섭 단순화, VDP 시스템 투자 불필요</a:t>
            </a:r>
          </a:p>
          <a:p>
            <a:pPr algn="l">
              <a:lnSpc>
                <a:spcPct val="150000"/>
              </a:lnSpc>
            </a:pPr>
            <a:r>
              <a:rPr sz="1050" b="1">
                <a:solidFill>
                  <a:srgbClr val="1A2B4A"/>
                </a:solidFill>
                <a:latin typeface="Noto Sans CJK KR"/>
                <a:ea typeface="Noto Sans CJK KR"/>
              </a:rPr>
              <a:t>· 견적 요청: 70g 종이 · 256p · 오프셋/디지털 택1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572000"/>
            <a:ext cx="11091672" cy="1691640"/>
          </a:xfrm>
          <a:prstGeom prst="rect">
            <a:avLst/>
          </a:prstGeom>
          <a:solidFill>
            <a:srgbClr val="FEF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572000"/>
            <a:ext cx="91440" cy="1691640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709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A2B4A"/>
                </a:solidFill>
                <a:latin typeface="Noto Sans CJK KR"/>
                <a:ea typeface="Noto Sans CJK KR"/>
              </a:rPr>
              <a:t>개인화 메커니즘 — 자기화(自己化) by 손글씨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16636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  <a:ea typeface="Noto Sans CJK KR"/>
              </a:rPr>
              <a:t>· Part 0 7항목 (사명/비전/4SE/TOP3/TOP2/실행프로파일/추천진로) — 리포트를 보며 손으로 옮겨 적음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  <a:ea typeface="Noto Sans CJK KR"/>
              </a:rPr>
              <a:t>· Part 1~7 전보 — 라벨만 인쇄되어 있고 활용 온도는 사용자의 손글씨에서 창출</a:t>
            </a:r>
          </a:p>
          <a:p>
            <a:pPr algn="l">
              <a:lnSpc>
                <a:spcPct val="150000"/>
              </a:lnSpc>
            </a:pPr>
            <a:r>
              <a:rPr sz="1000" b="1">
                <a:solidFill>
                  <a:srgbClr val="1A2B4A"/>
                </a:solidFill>
                <a:latin typeface="Noto Sans CJK KR"/>
                <a:ea typeface="Noto Sans CJK KR"/>
              </a:rPr>
              <a:t>· 근거: Mueller &amp; Oppenheimer(2014) — 손글씨 → 개념 이해·장기 기억 우위 / Smoker(2009) — 손글씨 루틴 → 자기 관련 정보 처리 강화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46520"/>
            <a:ext cx="11094415" cy="45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379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Noto Sans CJK KR"/>
                <a:ea typeface="Noto Sans CJK KR"/>
              </a:rPr>
              <a:t>Life Portfolio · 인생포트폴리오 맞춤형 다이어리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653796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Noto Sans CJK KR"/>
                <a:ea typeface="Noto Sans CJK KR"/>
              </a:rPr>
              <a:t>v1.0 · 500부 견적 요청    |    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73152" cy="411480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217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C9A04F"/>
                </a:solidFill>
                <a:latin typeface="Noto Sans CJK KR"/>
                <a:ea typeface="Noto Sans CJK KR"/>
              </a:rPr>
              <a:t>04 · 인쇄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1A2B4A"/>
                </a:solidFill>
                <a:latin typeface="Noto Sans CJK KR"/>
                <a:ea typeface="Noto Sans CJK KR"/>
              </a:rPr>
              <a:t>타이포 · 여백 · 페이지 설계 원칙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566928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2800" b="1">
                <a:solidFill>
                  <a:srgbClr val="E5E7EB"/>
                </a:solidFill>
                <a:latin typeface="Noto Sans CJK KR"/>
                <a:ea typeface="Noto Sans CJK KR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828800" cy="27432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77440" y="1508760"/>
            <a:ext cx="9262872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5349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1097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200" b="1">
                <a:solidFill>
                  <a:srgbClr val="C9A04F"/>
                </a:solidFill>
                <a:latin typeface="Noto Sans CJK KR"/>
                <a:ea typeface="Noto Sans CJK KR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880360"/>
            <a:ext cx="548640" cy="36576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2194560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A2B4A"/>
                </a:solidFill>
                <a:latin typeface="Noto Sans CJK KR"/>
                <a:ea typeface="Noto Sans CJK KR"/>
              </a:rPr>
              <a:t>미니멀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743200"/>
            <a:ext cx="3703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050" b="0">
                <a:solidFill>
                  <a:srgbClr val="374151"/>
                </a:solidFill>
                <a:latin typeface="Noto Sans CJK KR"/>
                <a:ea typeface="Noto Sans CJK KR"/>
              </a:rPr>
              <a:t>타이포·여백 위주. 사진·일러스트 최소화. 사용자가 빈 공간을 채움.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920240"/>
            <a:ext cx="5349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057400"/>
            <a:ext cx="1097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200" b="1">
                <a:solidFill>
                  <a:srgbClr val="C9A04F"/>
                </a:solidFill>
                <a:latin typeface="Noto Sans CJK KR"/>
                <a:ea typeface="Noto Sans CJK KR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2880360"/>
            <a:ext cx="548640" cy="36576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2194560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A2B4A"/>
                </a:solidFill>
                <a:latin typeface="Noto Sans CJK KR"/>
                <a:ea typeface="Noto Sans CJK KR"/>
              </a:rPr>
              <a:t>만년필 친화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2743200"/>
            <a:ext cx="3703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050" b="0">
                <a:solidFill>
                  <a:srgbClr val="374151"/>
                </a:solidFill>
                <a:latin typeface="Noto Sans CJK KR"/>
                <a:ea typeface="Noto Sans CJK KR"/>
              </a:rPr>
              <a:t>70g 도모에리버 대체재 권장. 비침·번짐 최소. 행간 충분히 확보.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206240"/>
            <a:ext cx="5349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343400"/>
            <a:ext cx="1097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200" b="1">
                <a:solidFill>
                  <a:srgbClr val="C9A04F"/>
                </a:solidFill>
                <a:latin typeface="Noto Sans CJK KR"/>
                <a:ea typeface="Noto Sans CJK KR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166360"/>
            <a:ext cx="548640" cy="36576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11680" y="4480560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A2B4A"/>
                </a:solidFill>
                <a:latin typeface="Noto Sans CJK KR"/>
                <a:ea typeface="Noto Sans CJK KR"/>
              </a:rPr>
              <a:t>가독성 우선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029200"/>
            <a:ext cx="3703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050" b="0">
                <a:solidFill>
                  <a:srgbClr val="374151"/>
                </a:solidFill>
                <a:latin typeface="Noto Sans CJK KR"/>
                <a:ea typeface="Noto Sans CJK KR"/>
              </a:rPr>
              <a:t>본문 10.5 ~ 11pt 권장. 한글 행간 1.6 ~ 1.7. 노안 사용자 30~50대 가독성 우선.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206240"/>
            <a:ext cx="5349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343400"/>
            <a:ext cx="1097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200" b="1">
                <a:solidFill>
                  <a:srgbClr val="C9A04F"/>
                </a:solidFill>
                <a:latin typeface="Noto Sans CJK KR"/>
                <a:ea typeface="Noto Sans CJK KR"/>
              </a:rPr>
              <a:t>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5166360"/>
            <a:ext cx="548640" cy="36576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0" y="4480560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A2B4A"/>
                </a:solidFill>
                <a:latin typeface="Noto Sans CJK KR"/>
                <a:ea typeface="Noto Sans CJK KR"/>
              </a:rPr>
              <a:t>빈 공간 = 가치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5029200"/>
            <a:ext cx="3703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050" b="0">
                <a:solidFill>
                  <a:srgbClr val="374151"/>
                </a:solidFill>
                <a:latin typeface="Noto Sans CJK KR"/>
                <a:ea typeface="Noto Sans CJK KR"/>
              </a:rPr>
              <a:t>각 페이지 빈 공간 비율 60% 이상. 사용자의 글쓰기 공간이 곧 다이어리의 핵심 IP.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446520"/>
            <a:ext cx="11094415" cy="45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5379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Noto Sans CJK KR"/>
                <a:ea typeface="Noto Sans CJK KR"/>
              </a:rPr>
              <a:t>Life Portfolio · 인생포트폴리오 맞춤형 다이어리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653796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Noto Sans CJK KR"/>
                <a:ea typeface="Noto Sans CJK KR"/>
              </a:rPr>
              <a:t>v1.0 · 500부 견적 요청    |    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73152" cy="411480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217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C9A04F"/>
                </a:solidFill>
                <a:latin typeface="Noto Sans CJK KR"/>
                <a:ea typeface="Noto Sans CJK KR"/>
              </a:rPr>
              <a:t>05 · 견적 요청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1A2B4A"/>
                </a:solidFill>
                <a:latin typeface="Noto Sans CJK KR"/>
                <a:ea typeface="Noto Sans CJK KR"/>
              </a:rPr>
              <a:t>견적 요청 항목 + 회신 양식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566928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2800" b="1">
                <a:solidFill>
                  <a:srgbClr val="E5E7EB"/>
                </a:solidFill>
                <a:latin typeface="Noto Sans CJK KR"/>
                <a:ea typeface="Noto Sans CJK KR"/>
              </a:rP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828800" cy="27432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77440" y="1508760"/>
            <a:ext cx="9262872" cy="7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A2B4A"/>
                </a:solidFill>
                <a:latin typeface="Noto Sans CJK KR"/>
                <a:ea typeface="Noto Sans CJK KR"/>
              </a:rPr>
              <a:t>견적 요청 항목 — 8개 (사양서 v1.2 §4 ~ §6)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914400" cy="27432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468880"/>
            <a:ext cx="1005840" cy="36576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4203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Noto Sans CJK KR"/>
                <a:ea typeface="Noto Sans CJK KR"/>
              </a:rPr>
              <a:t>외관(2)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51460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A5 양장 사철 / PU + 금박·형압·가름끈 2 부속 일괄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971800"/>
            <a:ext cx="1005840" cy="36576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44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Noto Sans CJK KR"/>
                <a:ea typeface="Noto Sans CJK KR"/>
              </a:rPr>
              <a:t>종이(1)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01752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70g 만년필 친화 — 단일 시나리오 견적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474720"/>
            <a:ext cx="1005840" cy="36576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54787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Noto Sans CJK KR"/>
                <a:ea typeface="Noto Sans CJK KR"/>
              </a:rPr>
              <a:t>페이지(1)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5204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256p (속표지·판권 8p + 본문 248p)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77640"/>
            <a:ext cx="1005840" cy="36576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05079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Noto Sans CJK KR"/>
                <a:ea typeface="Noto Sans CJK KR"/>
              </a:rPr>
              <a:t>인쇄(1)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402336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일반 인쇄 1종 — 오프셋/디지털 추천 선택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480560"/>
            <a:ext cx="1005840" cy="36576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55371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Noto Sans CJK KR"/>
                <a:ea typeface="Noto Sans CJK KR"/>
              </a:rPr>
              <a:t>후가공(1)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452628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금박(C9A04F) + 형압 로고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983480"/>
            <a:ext cx="1005840" cy="36576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05663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Noto Sans CJK KR"/>
                <a:ea typeface="Noto Sans CJK KR"/>
              </a:rPr>
              <a:t>포장(1)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502920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박스 + 인삿카드 + 사용가이드 8p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486400"/>
            <a:ext cx="1005840" cy="36576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5595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Noto Sans CJK KR"/>
                <a:ea typeface="Noto Sans CJK KR"/>
              </a:rPr>
              <a:t>납기(1)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4519" y="553212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샘플 · 본인쇄 일정 + 예약 옵션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187451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A2B4A"/>
                </a:solidFill>
                <a:latin typeface="Noto Sans CJK KR"/>
                <a:ea typeface="Noto Sans CJK KR"/>
              </a:rPr>
              <a:t>회신 양식 — 단일 시나리오 견적표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0" y="2240280"/>
            <a:ext cx="914400" cy="27432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0" y="2468880"/>
            <a:ext cx="1280160" cy="384048"/>
          </a:xfrm>
          <a:prstGeom prst="rect">
            <a:avLst/>
          </a:prstGeom>
          <a:solidFill>
            <a:srgbClr val="1A2B4A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25603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Noto Sans CJK KR"/>
                <a:ea typeface="Noto Sans CJK KR"/>
              </a:rPr>
              <a:t>항목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63840" y="2468880"/>
            <a:ext cx="1188720" cy="384048"/>
          </a:xfrm>
          <a:prstGeom prst="rect">
            <a:avLst/>
          </a:prstGeom>
          <a:solidFill>
            <a:srgbClr val="1A2B4A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0" y="25603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Noto Sans CJK KR"/>
                <a:ea typeface="Noto Sans CJK KR"/>
              </a:rPr>
              <a:t>수량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52560" y="2468880"/>
            <a:ext cx="2560320" cy="384048"/>
          </a:xfrm>
          <a:prstGeom prst="rect">
            <a:avLst/>
          </a:prstGeom>
          <a:solidFill>
            <a:srgbClr val="1A2B4A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25603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Noto Sans CJK KR"/>
                <a:ea typeface="Noto Sans CJK KR"/>
              </a:rPr>
              <a:t>견적·납기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0" y="2852928"/>
            <a:ext cx="12801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29443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샘플 제작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63840" y="2852928"/>
            <a:ext cx="118872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55280" y="294436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1부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52560" y="2852928"/>
            <a:ext cx="256032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0" y="294436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본 계약 이전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0" y="3236976"/>
            <a:ext cx="1280160" cy="38404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75120" y="33284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본 제작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63840" y="3236976"/>
            <a:ext cx="1188720" cy="38404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55280" y="3328416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500부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52560" y="3236976"/>
            <a:ext cx="2560320" cy="38404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44000" y="332841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1차 발주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80" y="3621024"/>
            <a:ext cx="12801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75120" y="371246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추가 제작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63840" y="3621024"/>
            <a:ext cx="118872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55280" y="3712464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+500부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52560" y="3621024"/>
            <a:ext cx="256032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44000" y="371246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재주문 옵션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0" y="4005072"/>
            <a:ext cx="1280160" cy="38404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4096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단가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863840" y="4005072"/>
            <a:ext cx="1188720" cy="38404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955280" y="409651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1부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052560" y="4005072"/>
            <a:ext cx="2560320" cy="384048"/>
          </a:xfrm>
          <a:prstGeom prst="rect">
            <a:avLst/>
          </a:prstGeom>
          <a:solidFill>
            <a:srgbClr val="F9FA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44000" y="409651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F2937"/>
                </a:solidFill>
                <a:latin typeface="Noto Sans CJK KR"/>
                <a:ea typeface="Noto Sans CJK KR"/>
              </a:rPr>
              <a:t>도매 서적용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83680" y="4617720"/>
            <a:ext cx="5029200" cy="1508760"/>
          </a:xfrm>
          <a:prstGeom prst="rect">
            <a:avLst/>
          </a:prstGeom>
          <a:solidFill>
            <a:srgbClr val="FEF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583680" y="4617720"/>
            <a:ext cx="54864" cy="1508760"/>
          </a:xfrm>
          <a:prstGeom prst="rect">
            <a:avLst/>
          </a:prstGeom>
          <a:solidFill>
            <a:srgbClr val="C9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766560" y="470916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>
                <a:solidFill>
                  <a:srgbClr val="1A2B4A"/>
                </a:solidFill>
                <a:latin typeface="Noto Sans CJK KR"/>
                <a:ea typeface="Noto Sans CJK KR"/>
              </a:rPr>
              <a:t>회신 요청 일정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  <a:ea typeface="Noto Sans CJK KR"/>
              </a:rPr>
              <a:t>· 사양서 수령 후 7영업일 이내 회신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1F2937"/>
                </a:solidFill>
                <a:latin typeface="Noto Sans CJK KR"/>
                <a:ea typeface="Noto Sans CJK KR"/>
              </a:rPr>
              <a:t>· 4 시나리오 견적 + VDP 가능 여부 + 납기일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374151"/>
                </a:solidFill>
                <a:latin typeface="Noto Sans CJK KR"/>
                <a:ea typeface="Noto Sans CJK KR"/>
              </a:rPr>
              <a:t>· 회신처: [추후 협의] / 담당자: [추후 협의]</a:t>
            </a:r>
          </a:p>
          <a:p>
            <a:pPr algn="l">
              <a:lnSpc>
                <a:spcPct val="150000"/>
              </a:lnSpc>
            </a:pPr>
            <a:r>
              <a:rPr sz="1050" b="1">
                <a:solidFill>
                  <a:srgbClr val="1A2B4A"/>
                </a:solidFill>
                <a:latin typeface="Noto Sans CJK KR"/>
                <a:ea typeface="Noto Sans CJK KR"/>
              </a:rPr>
              <a:t>· 비교 후 1개 제조사 샘플 제작 의뢰 진행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" y="6446520"/>
            <a:ext cx="11094415" cy="45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8640" y="65379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Noto Sans CJK KR"/>
                <a:ea typeface="Noto Sans CJK KR"/>
              </a:rPr>
              <a:t>Life Portfolio · 인생포트폴리오 맞춤형 다이어리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200" y="653796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Noto Sans CJK KR"/>
                <a:ea typeface="Noto Sans CJK KR"/>
              </a:rPr>
              <a:t>v1.0 · 500부 견적 요청    |    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