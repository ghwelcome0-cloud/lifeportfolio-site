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LIFE PORTFOLIO · 인생포트폴리오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800" b="1">
                <a:solidFill>
                  <a:srgbClr val="1A2B4A"/>
                </a:solidFill>
                <a:latin typeface="Noto Sans CJK KR"/>
                <a:ea typeface="Noto Sans CJK KR"/>
              </a:rPr>
              <a:t>인생포트폴리오 커스텀 다이어리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74151"/>
                </a:solidFill>
                <a:latin typeface="Noto Sans CJK KR"/>
                <a:ea typeface="Noto Sans CJK KR"/>
              </a:rPr>
              <a:t>제작 시안 · 디자인 컨셉 &amp; 생산 사양 제안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931920"/>
            <a:ext cx="228600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발주처     인생포트폴리오 / Life Portfolio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제품명     인생포트폴리오 커스텀 다이어리(가칭)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규격       A5(148×210mm) · 양장 사철 · 약 360p / 432p (양자 견적)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수량       500부 1차 발주</a:t>
            </a: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374151"/>
                </a:solidFill>
                <a:latin typeface="Noto Sans CJK KR"/>
                <a:ea typeface="Noto Sans CJK KR"/>
              </a:rPr>
              <a:t>대상       우일 · 북토리 · 이든프린팅 3사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0350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Manufacturer Brief · v1.0 · 2026-05-19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목차 — 5개 챕터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제품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011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한 줄 정의 · 타겟 사용자 · 사용 시나리오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116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3 ~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6032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43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외관 사양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788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사이즈 · 표지 · 컬러 · 종이 · 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2788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5 ~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756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5204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속지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5661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Part 0 ~ Part 7 · 합계 360p / 432p 시나리오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356616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8 ~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519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인쇄 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343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VDP(가변) + 일반 인쇄 2층 / 타이포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14 ~ 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92040"/>
            <a:ext cx="1083564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0292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C9A04F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0749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견적 요청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120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17개 항목 + 회신 양식 + 일정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120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제품 한 줄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31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0" b="1">
                <a:solidFill>
                  <a:srgbClr val="C9A04F"/>
                </a:solidFill>
                <a:latin typeface="Noto Sans CJK KR"/>
                <a:ea typeface="Noto Sans CJK KR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28600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A2B4A"/>
                </a:solidFill>
                <a:latin typeface="Noto Sans CJK KR"/>
                <a:ea typeface="Noto Sans CJK KR"/>
              </a:rPr>
              <a:t>자기 검사 리포트가 그대로
옮겨 적히는 1년치 자기설계 다이어리.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4754880"/>
            <a:ext cx="228600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4937760"/>
            <a:ext cx="9601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374151"/>
                </a:solidFill>
                <a:latin typeface="Noto Sans CJK KR"/>
                <a:ea typeface="Noto Sans CJK KR"/>
              </a:rPr>
              <a:t>검사 리포트의 4SE(자기이해/자기표현/자기설계/자기실행)와 실행 프로그램의 3주·3개월·1년 구조를 그대로 받아 적는 빈칸 양식을 갖춘다. 다이어리는 리포트의 연장선이며, 두 산출물의 라벨·항목명·순서는 100% 일치한다.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01 · 제품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 &amp; 사용 시나리오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타겟 사용자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303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30 ~ 50대 자기설계 의지자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검사·진단 도구를 일상에 통합하려는 직장인 / 사업자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1년 단위 목표 설계 + 주간 실행 점검을 병행하려는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만년필·종이 다이어리를 선호하는 아날로그 친화 사용자</a:t>
            </a:r>
          </a:p>
          <a:p>
            <a:pPr algn="l">
              <a:lnSpc>
                <a:spcPct val="185000"/>
              </a:lnSpc>
            </a:pPr>
            <a:r>
              <a:rPr sz="1300" b="0">
                <a:solidFill>
                  <a:srgbClr val="1F2937"/>
                </a:solidFill>
                <a:latin typeface="Noto Sans CJK KR"/>
                <a:ea typeface="Noto Sans CJK KR"/>
              </a:rPr>
              <a:t>· 신앙/철학/인문적 분기점을 일상에 두려는 독자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사용 시나리오 (3 step)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860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56032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72491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060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검사 응답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온라인 검사 도구로 본인의 사명·비전·4SE 결과 도출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52044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68503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566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리포트 수령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88620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PDF 검사 리포트 5p + 실행 프로그램 PDF 6p 발급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4480560"/>
            <a:ext cx="822960" cy="777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645152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26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1A2B4A"/>
                </a:solidFill>
                <a:latin typeface="Noto Sans CJK KR"/>
                <a:ea typeface="Noto Sans CJK KR"/>
              </a:rPr>
              <a:t>다이어리 작성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84632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다이어리 Part 0~7의 빈칸 양식에 리포트 결과를 옮겨 적음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외관 사양 한눈에 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사이즈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A5 (148 × 210mm)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호보니치 Cousin과 동일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39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39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39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표지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PU 양장 + 금박 박표지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형압 인생포트폴리오 로고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38" y="1920240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38" y="1920240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38" y="20574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제본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38" y="2331720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양장 사철 (Smyth-sewn)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38" y="2788920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180° 펼침 — 만년필 작성 친화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부속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가름끈 2개 / 모서리 코너 4개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인덱스 박 / 뒷주머니 1개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39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39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39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포장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39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박스 + 인삿말 카드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39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+ 사용 가이드 8p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38" y="3502152"/>
            <a:ext cx="3749039" cy="141732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1038" y="3502152"/>
            <a:ext cx="54864" cy="14173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38" y="3639312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38" y="3913632"/>
            <a:ext cx="33832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약 360p / 432p (양자 견적)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38" y="4370832"/>
            <a:ext cx="3383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단순 합산 432p 기준 별도 견적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컬러 &amp; 마감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2606040" cy="19202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CLASSIC NAVY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클래식 네이비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기본 컬러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920240"/>
            <a:ext cx="2606040" cy="1920240"/>
          </a:xfrm>
          <a:prstGeom prst="rect">
            <a:avLst/>
          </a:prstGeom>
          <a:solidFill>
            <a:srgbClr val="6B1F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BURGUNDY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버건디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1920240"/>
            <a:ext cx="2606040" cy="1920240"/>
          </a:xfrm>
          <a:prstGeom prst="rect">
            <a:avLst/>
          </a:prstGeom>
          <a:solidFill>
            <a:srgbClr val="1F3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FOREST 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그린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옵션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1920240"/>
            <a:ext cx="2606040" cy="1920240"/>
          </a:xfrm>
          <a:prstGeom prst="rect">
            <a:avLst/>
          </a:prstGeom>
          <a:solidFill>
            <a:srgbClr val="3D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3840480"/>
            <a:ext cx="260604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39319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LIMITED EDITION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20624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한정판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457200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별도 협의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91672" cy="118872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54864" cy="118872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257800"/>
            <a:ext cx="10698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C9A04F"/>
                </a:solidFill>
                <a:latin typeface="Noto Sans CJK KR"/>
                <a:ea typeface="Noto Sans CJK KR"/>
              </a:rPr>
              <a:t>표지 마감 사양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표지 본체: PU 양장 (제조사 추천 자재 1종 + 대안 1종 제시 요청)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박표지: 골드 박(#C9A04F 톤) + 형압(blind emboss) 인생포트폴리오 로고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측면(에지): 무가공 — 만년필 친화 + 페이지 펼침 안정성 우선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02 · 외관 사양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종이 사양 — 양자 견적 분리 요청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74151"/>
                </a:solidFill>
                <a:latin typeface="Noto Sans CJK KR"/>
                <a:ea typeface="Noto Sans CJK KR"/>
              </a:rPr>
              <a:t>80g(기본 보급형) · 70g(만년필 친화 고급형) — 두 시나리오 동시 견적 (Q-C 확정)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539496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Noto Sans CJK KR"/>
                <a:ea typeface="Noto Sans CJK KR"/>
              </a:rPr>
              <a:t>OPTION A — 미색모조 80g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48463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평량: 80gsm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색상: 미색 (Cream / Off-white)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두께감: 적당함 — 일반 볼펜·연필 친화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비침: 약간 비침 (만년필 사용 시 영향 있음)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가격대: 보급형 — 비용 우위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· 권장 사용자: 볼펜·샤프 위주, 비용 민감 사용자</a:t>
            </a:r>
          </a:p>
          <a:p>
            <a:pPr algn="l">
              <a:lnSpc>
                <a:spcPct val="16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→ 입찰가 견적 항목 A 로 별도 표기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2468880"/>
            <a:ext cx="539496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2468880"/>
            <a:ext cx="5394960" cy="5486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57860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A2B4A"/>
                </a:solidFill>
                <a:latin typeface="Noto Sans CJK KR"/>
                <a:ea typeface="Noto Sans CJK KR"/>
              </a:rPr>
              <a:t>OPTION B — 만년필 친화 70g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3200400"/>
            <a:ext cx="484632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평량: 70gsm (도모에리버 / OK Fools 대체재)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색상: 미색 / 아이보리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두께감: 얇음 — 책 두께 ↓ + 가방 휴대성 ↑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비침: 거의 없음 — 만년필 잉크 번짐·반복 안정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가격대: 고급형 — 프리미엄 라인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6B7280"/>
                </a:solidFill>
                <a:latin typeface="Noto Sans CJK KR"/>
                <a:ea typeface="Noto Sans CJK KR"/>
              </a:rPr>
              <a:t>· 권장 사용자: 만년필·잉크 사용자, 두께감 선호 ↓</a:t>
            </a:r>
          </a:p>
          <a:p>
            <a:pPr algn="l">
              <a:lnSpc>
                <a:spcPct val="16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→ 입찰가 견적 항목 B 로 별도 표기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속지 구조 개요 — Part 0 ~ Part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구조 원칙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530352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검사 리포트 5p + 실행 프로그램 6p의 항목명을
  다이어리 빈칸 양식에 그대로 반영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4SE(자기이해·자기표현·자기설계·자기실행)와
  4라벨(본질·한 마디·키워드·결합) 공통 유지</a:t>
            </a:r>
          </a:p>
          <a:p>
            <a:pPr algn="l">
              <a:lnSpc>
                <a:spcPct val="165000"/>
              </a:lnSpc>
            </a:pPr>
            <a:r>
              <a:rPr sz="1100" b="0">
                <a:solidFill>
                  <a:srgbClr val="1F2937"/>
                </a:solidFill>
                <a:latin typeface="Noto Sans CJK KR"/>
                <a:ea typeface="Noto Sans CJK KR"/>
              </a:rPr>
              <a:t>· 페이지 합계 — 보고서 6.2 기준 "약 360p"
  단순 합산 기준 "432p" — 두 시나리오 모두 견적</a:t>
            </a:r>
          </a:p>
          <a:p>
            <a:pPr algn="l">
              <a:lnSpc>
                <a:spcPct val="16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· Part 0(8p)만 VDP(가변 인쇄), 나머지는 일반 인쇄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Part 0 ~ Part 7 구조표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240280"/>
            <a:ext cx="73152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468880"/>
            <a:ext cx="50292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328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532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5328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내용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3464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9077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29077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8p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검사 리포트 발췌 (VDP)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20040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32735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735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16p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27355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13영역 인생 지도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356616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36393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6393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6393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연간 비전 · 90일 마일스톤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93192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40050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0050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312p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400507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주간 펼침면 52주 × 6p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429768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43708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3708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52p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370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영역별 분기 회고 4p × 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466344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0" y="473659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47365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4736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감사 일기 (월별)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5029200"/>
            <a:ext cx="5029200" cy="36576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0" y="5102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51023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8p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510235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1:1 코칭 약속 · 진척 기록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0" y="5394960"/>
            <a:ext cx="5029200" cy="36576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5468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Part 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6811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74151"/>
                </a:solidFill>
                <a:latin typeface="Noto Sans CJK KR"/>
                <a:ea typeface="Noto Sans CJK KR"/>
              </a:rPr>
              <a:t>12p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4681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F2937"/>
                </a:solidFill>
                <a:latin typeface="Noto Sans CJK KR"/>
                <a:ea typeface="Noto Sans CJK KR"/>
              </a:rPr>
              <a:t>부록 — 성경구절 / 명언 / 13영역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0" y="5760720"/>
            <a:ext cx="5029200" cy="36576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8338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합계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58338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360p / 432p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583387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374151"/>
                </a:solidFill>
                <a:latin typeface="Noto Sans CJK KR"/>
                <a:ea typeface="Noto Sans CJK KR"/>
              </a:rPr>
              <a:t>양자 시나리오 견적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0 — 검사 리포트 발췌 (VDP · 8p)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2286000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476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100% 개인화 — VDP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19659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구매자별 검사 결과를 다이어리 인쇄 시점에 박아 넣음 — 가변 데이터 인쇄(Variable Data Printing)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인쇄될 항목 (7항목)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7180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154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1.  사명 (Mission)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3872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2.  비전 (Vision)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5387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핵심 문장 1줄 + 보조 문장 1줄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22776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3.  4SE 응답 강도(%)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9227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자기이해 / 자기표현 / 자기설계 / 자기실행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0682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4.  TOP3 강점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430682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908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5.  TOP2 성장 포인트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69087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성장 가이드맵에서 발췌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0749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6.  실행 프로파일 6필드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74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유형/스타일/추진력/몰입환경/활동/도구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5896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F2937"/>
                </a:solidFill>
                <a:latin typeface="Noto Sans CJK KR"/>
                <a:ea typeface="Noto Sans CJK KR"/>
              </a:rPr>
              <a:t>7.  추천 진로 3카드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45896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7280"/>
                </a:solidFill>
                <a:latin typeface="Noto Sans CJK KR"/>
                <a:ea typeface="Noto Sans CJK KR"/>
              </a:rPr>
              <a:t>추천 진로 · 추천 교육 · 확장 방향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606040"/>
            <a:ext cx="4690872" cy="352044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2606040"/>
            <a:ext cx="54864" cy="35204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269748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제조사 견적 요청 사항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VDP(가변 데이터 인쇄) 가능 여부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가능 시 1부당 단가 영향 (8p VDP 기준)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디지털 인쇄 / 오프셋 + 가변 페이지 삽지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  중 권장 방식과 사유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입력 데이터 포맷 (CSV / Excel / JSON)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최소 수량 (500부 충족 여부)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교정·승인 절차 (1부당 데이터 검수 필요)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→ 사양서 PDF 항목 §4 와 동일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1 · 2 — 13영역 인생지도 + 연간 비전 (28p)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1 — 13영역 인생 지도 (16p)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명칭만 인쇄 (인생포트폴리오 IP)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점수 칸 / 메모 칸은 빈칸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약 1.2p 할당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13영역 라벨 (보고서 6.2 그대로)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신앙·소명 / 가족·관계 / 직업·경력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재정·자산 / 건강·체력 / 학습·성장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취미·여가 / 봉사·기여 / 자기관리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거주·환경 / 인간관계 / 정서·내면 / 유산·미래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2 — 연간 비전 · 90일 마일스톤 (12p)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페이지 구성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“VISION” 박스 + “분기 마일스톤 3개” 라벨만 인쇄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빈칸은 사용자가 검사 리포트 비전 카드 보고 옮겨 적음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Hyatt 스타일 — 연간 → 분기 → 90일 분할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매핑되는 검사 리포트 항목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리포트 페이지 1 — 비전 카드의 핵심·보조 문장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1 — 분기 테마 카드 1개</a:t>
            </a:r>
          </a:p>
          <a:p>
            <a:pPr algn="l">
              <a:lnSpc>
                <a:spcPct val="155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실행 프로그램 페이지 3 — 3개월 카드 3개</a:t>
            </a:r>
          </a:p>
          <a:p>
            <a:pPr algn="l">
              <a:lnSpc>
                <a:spcPct val="155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1">
                <a:solidFill>
                  <a:srgbClr val="C9A04F"/>
                </a:solidFill>
                <a:latin typeface="Noto Sans CJK KR"/>
                <a:ea typeface="Noto Sans CJK KR"/>
              </a:rPr>
              <a:t>→ 라벨·항목명 운영 PDF와 100% 정합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3 — 주간 펼침면 52주 × 6p (312p)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다이어리 본문의 핵심 — 1주차당 6p 펼침면 구조. 실행 프로그램의 3주 루틴 표기를 그대로 따른다.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423160"/>
            <a:ext cx="5394960" cy="356616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146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LEFT PAGE — 미션 · 실행 의도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788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Week ##  ·  이번 주 사명 한 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3291840"/>
            <a:ext cx="5029200" cy="700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290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F2937"/>
                </a:solidFill>
                <a:latin typeface="Noto Sans CJK KR"/>
                <a:ea typeface="Noto Sans CJK KR"/>
              </a:rPr>
              <a:t>· If-Then 3개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3867912"/>
            <a:ext cx="484632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43000" y="4142232"/>
            <a:ext cx="484632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4416552"/>
            <a:ext cx="4846320" cy="4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6177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F2937"/>
                </a:solidFill>
                <a:latin typeface="Noto Sans CJK KR"/>
                <a:ea typeface="Noto Sans CJK KR"/>
              </a:rPr>
              <a:t>· 실행 방법 (4 bullet)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5010912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212080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5413248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43000" y="5614416"/>
            <a:ext cx="484632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607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F2937"/>
                </a:solidFill>
                <a:latin typeface="Noto Sans CJK KR"/>
                <a:ea typeface="Noto Sans CJK KR"/>
              </a:rPr>
              <a:t>· 실행 효과 (1줄)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423160"/>
            <a:ext cx="5394960" cy="3566160"/>
          </a:xfrm>
          <a:prstGeom prst="rect">
            <a:avLst/>
          </a:prstGeom>
          <a:solidFill>
            <a:srgbClr val="F9FAFB"/>
          </a:solidFill>
          <a:ln w="889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5146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RIGHT PAGE — 일정 · 회고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788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요일별 일정 + 주간 회고 + 성찰 메모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29184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03720" y="3456432"/>
            <a:ext cx="46634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538728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03720" y="3703320"/>
            <a:ext cx="46634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78561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03720" y="3950208"/>
            <a:ext cx="46634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4032504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4197096"/>
            <a:ext cx="46634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427939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4443984"/>
            <a:ext cx="46634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60" y="4526280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03720" y="4690872"/>
            <a:ext cx="46634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4773168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4937760"/>
            <a:ext cx="4663440" cy="3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51663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F2937"/>
                </a:solidFill>
                <a:latin typeface="Noto Sans CJK KR"/>
                <a:ea typeface="Noto Sans CJK KR"/>
              </a:rPr>
              <a:t>· 주간 회고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37960" y="55321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F2937"/>
                </a:solidFill>
                <a:latin typeface="Noto Sans CJK KR"/>
                <a:ea typeface="Noto Sans CJK KR"/>
              </a:rPr>
              <a:t>· 성찰 메모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6172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근거: Matthews(2007) — 글로 쓴 목표 + 약속(Group 5) → 달성률 +78% · Gollwitzer(1999) — Implementation Intention 효과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4 · 5 — 분기 회고 + 감사 일기 (64p)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4 — 영역별 분기 회고 (4p × 13 = 52p)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영역명 인쇄(인생포트폴리오 13영역)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Pennebaker 표현적 글쓰기 4문항 빈칸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1영역당 4p (분기당 1p 회고)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Pennebaker 4문항(고정 라벨)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Q1. 지난 분기 이 영역에서 일어난 사건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Q2. 그때 느낀 감정과 생각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Q3. 그것이 내게 의미하는 바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Q4. 다음 분기의 의도와 행동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Pennebaker(1986) — Expressive Writing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5 — 감사 일기 월별 (12p)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월 1p (12개월)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라벨 "이번 달 감사 3가지"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빈칸 3줄 + 우측 짧은 메모 칸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디자인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페이지 상단에 월 / 년 표기만 인쇄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빈 공간 비율 70% 이상 — 사용자 공간 확보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골드 라인 1줄로 시각적 분리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6B7280"/>
                </a:solidFill>
                <a:latin typeface="Noto Sans CJK KR"/>
                <a:ea typeface="Noto Sans CJK KR"/>
              </a:rPr>
              <a:t>근거: Cregg &amp; Cheavens(2024) — Gratitude RCT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03 · 속지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Part 6 · 7 — 1:1 코칭 기록 + 부록 (20p)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6 — 1:1 코칭 약속 · 진척 기록 (8p)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성과 추적 보드 — 4컬럼 표 (실행 프로그램 PDF p4 동일)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6400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주차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17320" y="3017520"/>
            <a:ext cx="201168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0906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실행 과제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3017520"/>
            <a:ext cx="91440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090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완료(Y/N)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017520"/>
            <a:ext cx="14630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309067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>
                <a:solidFill>
                  <a:srgbClr val="FFFFFF"/>
                </a:solidFill>
                <a:latin typeface="Noto Sans CJK KR"/>
                <a:ea typeface="Noto Sans CJK KR"/>
              </a:rPr>
              <a:t>성찰 메모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8328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17320" y="338328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338328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338328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70332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370332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9000" y="370332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70332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2336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402336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402336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43400" y="402336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434340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17320" y="434340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29000" y="434340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43400" y="434340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663440"/>
            <a:ext cx="6400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17320" y="4663440"/>
            <a:ext cx="201168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29000" y="4663440"/>
            <a:ext cx="91440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43400" y="4663440"/>
            <a:ext cx="1463040" cy="320040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983480"/>
            <a:ext cx="6400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17320" y="4983480"/>
            <a:ext cx="2011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29000" y="4983480"/>
            <a:ext cx="91440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3400" y="4983480"/>
            <a:ext cx="146304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4864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B7280"/>
                </a:solidFill>
                <a:latin typeface="Noto Sans CJK KR"/>
                <a:ea typeface="Noto Sans CJK KR"/>
              </a:rPr>
              <a:t>근거: Matthews(2007) Group 5 — 글로 쓴 목표 + 친구에게 약속·진척 보고 시 달성률 +78%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1874519"/>
            <a:ext cx="54864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920" y="1874519"/>
            <a:ext cx="5486400" cy="54864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198424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FFFFFF"/>
                </a:solidFill>
                <a:latin typeface="Noto Sans CJK KR"/>
                <a:ea typeface="Noto Sans CJK KR"/>
              </a:rPr>
              <a:t>Part 7 — 부록 (12p)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46520" y="2606040"/>
            <a:ext cx="502920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구성 — 라벨만 인쇄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성경구절 또는 명언 모음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13영역 참고 가이드 (4p)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사용 가이드 요약 (2p)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연락처 / 라이선스 / 색인 (2p)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FFFFFF"/>
                </a:solidFill>
                <a:latin typeface="Noto Sans CJK KR"/>
                <a:ea typeface="Noto Sans CJK K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신학 안전 표현 원칙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"성경구절 또는 명언 선택 가능" 중립 표현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Frankl·Dik·Wrzesniewski 등 학술 인용은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  Pre-evangelism / Common Grace 영역에서 안전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· 자기 너머의 부름을 명시적 vocation으로 동일시 않음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인쇄 구조 — 2층 (Two-Layer Print)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74151"/>
                </a:solidFill>
                <a:latin typeface="Noto Sans CJK KR"/>
                <a:ea typeface="Noto Sans CJK KR"/>
              </a:rPr>
              <a:t>다이어리 1권 = Layer 1 (VDP · 가변 인쇄) + Layer 2 (일반 인쇄 · 빈칸 양식). 두 영역의 인쇄 방식·단가를 분리 견적 요청.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68880"/>
            <a:ext cx="11091672" cy="169164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68880"/>
            <a:ext cx="91440" cy="169164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C9A04F"/>
                </a:solidFill>
                <a:latin typeface="Noto Sans CJK KR"/>
                <a:ea typeface="Noto Sans CJK KR"/>
              </a:rPr>
              <a:t>LAYER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880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VDP — 가변 데이터 인쇄 (Variable Data Printing)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64992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적용 범위: Part 0 (8p) — 검사 리포트 발췌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내용: 사명·비전·4SE 점수·강점·실행 프로파일·추천 진로 — 구매자별 100% 다름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견적 요청: VDP 가능 여부, 단가 추가, 입력 포맷, 교정 절차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11091672" cy="1783080"/>
          </a:xfrm>
          <a:prstGeom prst="rect">
            <a:avLst/>
          </a:prstGeom>
          <a:solidFill>
            <a:srgbClr val="F9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91440" cy="178308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1A2B4A"/>
                </a:solidFill>
                <a:latin typeface="Noto Sans CJK KR"/>
                <a:ea typeface="Noto Sans CJK KR"/>
              </a:rPr>
              <a:t>LAYER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5488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A2B4A"/>
                </a:solidFill>
                <a:latin typeface="Noto Sans CJK KR"/>
                <a:ea typeface="Noto Sans CJK KR"/>
              </a:rPr>
              <a:t>일반 인쇄 — 빈칸 양식 (라벨만 인쇄 / 사용자가 채움)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39512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적용 범위: Part 1 (16p) + Part 2 (12p) + Part 3 (312p) + Part 4 (52p) + Part 5 (12p) + Part 6 (8p) + Part 7 (12p)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내용: 항목명·라벨·표 헤더·인용 박스만 인쇄. 사용자가 검사 리포트를 보며 빈칸을 채움.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견적 요청: 오프셋 / 디지털 단가, 360p · 432p 두 시나리오, 80g · 70g 양자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04 · 인쇄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타이포 · 여백 · 페이지 설계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미니멀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타이포·여백 위주. 사진·일러스트 최소화. 사용자가 빈 공간을 채움.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20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880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194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만년필 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743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70g 도모에리버 대체재 권장. 비침·번짐 최소. 행간 충분히 확보.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가독성 우선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본문 10.5 ~ 11pt 권장. 한글 행간 1.6 ~ 1.7. 노안 사용자 30~50대 가독성 우선.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206240"/>
            <a:ext cx="534924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343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200" b="1">
                <a:solidFill>
                  <a:srgbClr val="C9A04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166360"/>
            <a:ext cx="548640" cy="36576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448056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1A2B4A"/>
                </a:solidFill>
                <a:latin typeface="Noto Sans CJK KR"/>
                <a:ea typeface="Noto Sans CJK KR"/>
              </a:rPr>
              <a:t>빈 공간 =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50292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각 페이지 빈 공간 비율 60% 이상. 사용자의 글쓰기 공간이 곧 다이어리의 핵심 IP.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73152" cy="41148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217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C9A04F"/>
                </a:solidFill>
                <a:latin typeface="Noto Sans CJK KR"/>
                <a:ea typeface="Noto Sans CJK KR"/>
              </a:rPr>
              <a:t>05 · 견적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+ 회신 양식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566928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2800" b="1">
                <a:solidFill>
                  <a:srgbClr val="E5E7EB"/>
                </a:solidFill>
                <a:latin typeface="Noto Sans CJK KR"/>
                <a:ea typeface="Noto Sans CJK KR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828800" cy="27432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77440" y="1508760"/>
            <a:ext cx="9262872" cy="70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19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견적 요청 항목 — 17개 (사양서 §4 ~ §6)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4688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420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외관(6)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사이즈 / 표지 / 양장사철 / 가름끈·코너·인덱스 / 박스 / 인쇄 위치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종이(2)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175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80g 견적 / 70g 견적 — 양자 분리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47472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4787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20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360p 시나리오 / 432p 시나리오 — 양자 분리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7764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5079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VDP(3)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0233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가능 여부 / 단가 영향 / 입력 포맷·교정 절차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48056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537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후가공(2)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5262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금박 박표지 / 형압 로고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983480"/>
            <a:ext cx="1005840" cy="365760"/>
          </a:xfrm>
          <a:prstGeom prst="rect">
            <a:avLst/>
          </a:prstGeom>
          <a:solidFill>
            <a:srgbClr val="1A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5663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기타(2)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0292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납기일 / 추가 옵션(예약 시) 가능 여부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1A2B4A"/>
                </a:solidFill>
                <a:latin typeface="Noto Sans CJK KR"/>
                <a:ea typeface="Noto Sans CJK KR"/>
              </a:rPr>
              <a:t>회신 양식 — 4 시나리오 견적표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2240280"/>
            <a:ext cx="914400" cy="27432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0" y="2468880"/>
            <a:ext cx="11887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20" y="2560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시나리오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0" y="2468880"/>
            <a:ext cx="128016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25603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페이지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2468880"/>
            <a:ext cx="2560320" cy="384048"/>
          </a:xfrm>
          <a:prstGeom prst="rect">
            <a:avLst/>
          </a:prstGeom>
          <a:solidFill>
            <a:srgbClr val="1A2B4A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25603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>
                <a:solidFill>
                  <a:srgbClr val="FFFFFF"/>
                </a:solidFill>
                <a:latin typeface="Noto Sans CJK KR"/>
                <a:ea typeface="Noto Sans CJK KR"/>
              </a:rPr>
              <a:t>종이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852928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294436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2852928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294436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360p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2852928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0" y="29443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80g 미색모조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3236976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3328416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3236976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33284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360p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52560" y="3236976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0" y="3328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70g 만년필친화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3621024"/>
            <a:ext cx="11887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3712464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72400" y="3621024"/>
            <a:ext cx="12801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0" y="37124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432p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621024"/>
            <a:ext cx="256032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37124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80g 미색모조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83680" y="4005072"/>
            <a:ext cx="11887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409651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72400" y="4005072"/>
            <a:ext cx="128016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63840" y="4096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432p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52560" y="4005072"/>
            <a:ext cx="2560320" cy="384048"/>
          </a:xfrm>
          <a:prstGeom prst="rect">
            <a:avLst/>
          </a:prstGeom>
          <a:solidFill>
            <a:srgbClr val="F9FAFB"/>
          </a:solidFill>
          <a:ln w="508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0" y="40965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1F2937"/>
                </a:solidFill>
                <a:latin typeface="Noto Sans CJK KR"/>
                <a:ea typeface="Noto Sans CJK KR"/>
              </a:rPr>
              <a:t>70g 만년필친화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0" y="4617720"/>
            <a:ext cx="5029200" cy="1508760"/>
          </a:xfrm>
          <a:prstGeom prst="rect">
            <a:avLst/>
          </a:prstGeom>
          <a:solidFill>
            <a:srgbClr val="FE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0" y="4617720"/>
            <a:ext cx="54864" cy="1508760"/>
          </a:xfrm>
          <a:prstGeom prst="rect">
            <a:avLst/>
          </a:prstGeom>
          <a:solidFill>
            <a:srgbClr val="C9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766560" y="470916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1A2B4A"/>
                </a:solidFill>
                <a:latin typeface="Noto Sans CJK KR"/>
                <a:ea typeface="Noto Sans CJK KR"/>
              </a:rPr>
              <a:t>회신 요청 일정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사양서 수령 후 7영업일 이내 회신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1F2937"/>
                </a:solidFill>
                <a:latin typeface="Noto Sans CJK KR"/>
                <a:ea typeface="Noto Sans CJK KR"/>
              </a:rPr>
              <a:t>· 4 시나리오 견적 + VDP 가능 여부 + 납기일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374151"/>
                </a:solidFill>
                <a:latin typeface="Noto Sans CJK KR"/>
                <a:ea typeface="Noto Sans CJK KR"/>
              </a:rPr>
              <a:t>· 회신처: [추후 협의] / 담당자: [추후 협의]</a:t>
            </a:r>
          </a:p>
          <a:p>
            <a:pPr algn="l">
              <a:lnSpc>
                <a:spcPct val="150000"/>
              </a:lnSpc>
            </a:pPr>
            <a:r>
              <a:rPr sz="1050" b="1">
                <a:solidFill>
                  <a:srgbClr val="1A2B4A"/>
                </a:solidFill>
                <a:latin typeface="Noto Sans CJK KR"/>
                <a:ea typeface="Noto Sans CJK KR"/>
              </a:rPr>
              <a:t>· 비교 후 1개 제조사 샘플 제작 의뢰 진행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6446520"/>
            <a:ext cx="11094415" cy="45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6537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Life Portfolio · 인생포트폴리오 커스텀 다이어리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5200" y="653796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>
                <a:solidFill>
                  <a:srgbClr val="6B7280"/>
                </a:solidFill>
                <a:latin typeface="Noto Sans CJK KR"/>
                <a:ea typeface="Noto Sans CJK KR"/>
              </a:rPr>
              <a:t>v1.0 · 500부 견적 요청    |   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