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515600" cy="2286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515600" cy="2286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2651760"/>
            <a:ext cx="457200" cy="1371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C9A04F"/>
                </a:solidFill>
                <a:latin typeface="Cormorant Garamond"/>
                <a:ea typeface="Noto Sans CJK KR"/>
              </a:rPr>
              <a:t>LIFE 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5400" b="1">
                <a:solidFill>
                  <a:srgbClr val="FEF7E6"/>
                </a:solidFill>
                <a:latin typeface="Noto Sans CJK KR"/>
                <a:ea typeface="Noto Sans CJK KR"/>
              </a:rPr>
              <a:t>인생포트폴리오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4892040"/>
            <a:ext cx="914400" cy="2286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 i="1">
                <a:solidFill>
                  <a:srgbClr val="C9A04F"/>
                </a:solidFill>
                <a:latin typeface="Cormorant Garamond"/>
                <a:ea typeface="Noto Sans CJK KR"/>
              </a:rPr>
              <a:t>Only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목차 — 5개 챕터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제품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한 줄 정의 · 타겟 사용자 · 사용 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011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3 ~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10835640" cy="4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432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외관 사양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88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사이즈 · 표지 · 컬러 · 종이 · 마감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5 ~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10835640" cy="4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5204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속지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66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Part 0 ~ Part 7 · 합계 256p · Undated 만년형 · 데일리 저널 24p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566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8 ~ 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4800"/>
            <a:ext cx="10835640" cy="4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97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인쇄 구조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3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일반 인쇄 단일 층 / 손글씨 친화 타이포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4343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14 ~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92040"/>
            <a:ext cx="10835640" cy="4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292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749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견적 요청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120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8개 항목 + 회신 양식 + 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5120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01 · 제품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제품 한 줄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731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0" b="1">
                <a:solidFill>
                  <a:srgbClr val="C9A04F"/>
                </a:solidFill>
                <a:latin typeface="Noto Sans CJK KR"/>
                <a:ea typeface="Noto Sans CJK KR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0A3D2A"/>
                </a:solidFill>
                <a:latin typeface="Noto Sans CJK KR"/>
                <a:ea typeface="Noto Sans CJK KR"/>
              </a:rPr>
              <a:t>자기 검사 리포트가 그대로
옮겨 적히는 1년치 자기설계 다이어리.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754880"/>
            <a:ext cx="228600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93776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374151"/>
                </a:solidFill>
                <a:latin typeface="Noto Sans CJK KR"/>
                <a:ea typeface="Noto Sans CJK KR"/>
              </a:rPr>
              <a:t>검사 리포트의 4SE(자기이해/자기표현/자기설계/자기실행)와 실행 프로그램의 3주·3개월·1년 구조를 그대로 받아 적는 빈칸 양식을 갖춘다. 다이어리는 리포트의 연장선이며, 두 산출물의 라벨·항목명·순서는 100% 일치한다.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01 · 제품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타겟 사용자 &amp; 사용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타겟 사용자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10대 후반 ~ 50대 자기설계 의지자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학생·성인·준비생·직장인·프리랜서·사업자 전 직군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1년 단위 목표 설계 + 주간 실행 점검을 병행하려는 사용자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만년필·종이 다이어리를 선호하는 아날로그 친화 사용자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신앙/철학/인문적 분기점을 일상에 두려는 독자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사용 시나리오 (3 step)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560320"/>
            <a:ext cx="822960" cy="7772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2491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060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A3D2A"/>
                </a:solidFill>
                <a:latin typeface="Noto Sans CJK KR"/>
                <a:ea typeface="Noto Sans CJK KR"/>
              </a:rPr>
              <a:t>검사 응답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26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온라인 검사 도구로 본인의 사명·비전·4SE 결과 도출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520440"/>
            <a:ext cx="822960" cy="7772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68503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5661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A3D2A"/>
                </a:solidFill>
                <a:latin typeface="Noto Sans CJK KR"/>
                <a:ea typeface="Noto Sans CJK KR"/>
              </a:rPr>
              <a:t>리포트 수령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886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PDF 검사 리포트 5p + 실행 프로그램 PDF 6p 발급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480560"/>
            <a:ext cx="822960" cy="7772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64515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5262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A3D2A"/>
                </a:solidFill>
                <a:latin typeface="Noto Sans CJK KR"/>
                <a:ea typeface="Noto Sans CJK KR"/>
              </a:rPr>
              <a:t>다이어리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46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다이어리 Part 0~7의 빈칸 양식에 리포트 결과를 옮겨 적음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02 · 외관 사양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외관 사양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사이즈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A5 (148 × 210mm)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시장 표준 A5 위클리 사이즈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39" y="1920240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39" y="1920240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0574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3317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PU 양장 (BRG) + 금박 박표지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7889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텍스트 박표지만 (형압 없음)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38" y="1920240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38" y="1920240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38" y="20574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제본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38" y="23317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양장 사철 (Smyth-sewn)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38" y="27889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180° 펼침 — 만년필 작성 친화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2152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부속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13632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가름끈 2개 / 모서리 코너 4개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70832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인덱스 박 / 뒷주머니 1개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39" y="3502152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39" y="3502152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39" y="363931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포장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39" y="3913632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박스 + 인삿말 카드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4370832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+ 사용 가이드 8p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38" y="3502152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38" y="3502152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8" y="363931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페이지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38" y="3913632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256p (16의 배수 · 16절판 최적)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38" y="4370832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속표지·간지 8p + 본문 248p — 70g 단일 견적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02 · 외관 사양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컬러 &amp; 마감 옵션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606040" cy="19202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BRITISH RACING 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A3D2A"/>
                </a:solidFill>
                <a:latin typeface="Noto Sans CJK KR"/>
                <a:ea typeface="Noto Sans CJK KR"/>
              </a:rPr>
              <a:t>BRG 그린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기본 컬러 (v1.4.2 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920240"/>
            <a:ext cx="2606040" cy="1920240"/>
          </a:xfrm>
          <a:prstGeom prst="rect">
            <a:avLst/>
          </a:prstGeom>
          <a:solidFill>
            <a:srgbClr val="6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38404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BURGUNDY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A3D2A"/>
                </a:solidFill>
                <a:latin typeface="Noto Sans CJK KR"/>
                <a:ea typeface="Noto Sans CJK KR"/>
              </a:rPr>
              <a:t>버건디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옵션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920240"/>
            <a:ext cx="2606040" cy="19202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8404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DARK GRAY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A3D2A"/>
                </a:solidFill>
                <a:latin typeface="Noto Sans CJK KR"/>
                <a:ea typeface="Noto Sans CJK KR"/>
              </a:rPr>
              <a:t>다크 그레이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옵션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1920240"/>
            <a:ext cx="2606040" cy="1920240"/>
          </a:xfrm>
          <a:prstGeom prst="rect">
            <a:avLst/>
          </a:prstGeom>
          <a:solidFill>
            <a:srgbClr val="3D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38404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LIMITED EDITION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A3D2A"/>
                </a:solidFill>
                <a:latin typeface="Noto Sans CJK KR"/>
                <a:ea typeface="Noto Sans CJK KR"/>
              </a:rPr>
              <a:t>한정판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별도 협의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11091672" cy="1188720"/>
          </a:xfrm>
          <a:prstGeom prst="rect">
            <a:avLst/>
          </a:prstGeom>
          <a:solidFill>
            <a:srgbClr val="FE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20640"/>
            <a:ext cx="54864" cy="11887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C9A04F"/>
                </a:solidFill>
                <a:latin typeface="Noto Sans CJK KR"/>
                <a:ea typeface="Noto Sans CJK KR"/>
              </a:rPr>
              <a:t>표지 마감 사양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표지 본체: PU 양장 (British Racing Green #0A3D2A, Pantone 357 C)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박표지: 골드 박(#C9A04F 톤) — LIFE PORTFOLIO / 인생포트폴리오 / Only One 텍스트만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측면(에지): 무가공 — 만년필 친화 + 페이지 펼침 안정성 우선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02 · 외관 사양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종이 사양 — 만년필 친화 70g 단일 견적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74151"/>
                </a:solidFill>
                <a:latin typeface="Noto Sans CJK KR"/>
                <a:ea typeface="Noto Sans CJK KR"/>
              </a:rPr>
              <a:t>손글씨 다이어리 — 만년필·중성펜 친화 70g 단일 시나리오 (v1.4 · Undated 만년형)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09167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1091672" cy="6400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A3D2A"/>
                </a:solidFill>
                <a:latin typeface="Noto Sans CJK KR"/>
                <a:ea typeface="Noto Sans CJK KR"/>
              </a:rPr>
              <a:t>만년필 친화 70g — 도모에리버 / OK Fools 대체재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1">
                <a:solidFill>
                  <a:srgbClr val="C9A04F"/>
                </a:solidFill>
                <a:latin typeface="Noto Sans CJK KR"/>
                <a:ea typeface="Noto Sans CJK KR"/>
              </a:rPr>
              <a:t>규격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평량: 70gsm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색상: 아이보리 / 미색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두께감: 적정 — 256p 기준 책등 약 20mm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비침: 거의 없음 — 양면 필기 안정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만년필 잉크 번짐: 최소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3756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1">
                <a:solidFill>
                  <a:srgbClr val="C9A04F"/>
                </a:solidFill>
                <a:latin typeface="Noto Sans CJK KR"/>
                <a:ea typeface="Noto Sans CJK KR"/>
              </a:rPr>
              <a:t>선택 이유 (v1.4)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Part 0 7항목·Part 3 자유 메모를 손글씨로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  채우는 "손글씨 다이어리" 컨셉 — 70g 단일 최적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80g 보급형은 만년필 사용 시 비침 발생 → 제외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256p × 70g = 휴대성 + 1년 기록 충분 (시판 다이어리 평균 수준)</a:t>
            </a:r>
          </a:p>
          <a:p>
            <a:pPr algn="l">
              <a:lnSpc>
                <a:spcPct val="165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· 견적 단일화로 발주 의사결정 단축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속지 구조 개요 — Part 0 ~ 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3D2A"/>
                </a:solidFill>
                <a:latin typeface="Noto Sans CJK KR"/>
                <a:ea typeface="Noto Sans CJK KR"/>
              </a:rPr>
              <a:t>구조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73152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검사 리포트 5p + 실행 프로그램 6p의 항목명을
  다이어리 빈칸 양식에 그대로 반영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4SE(자기이해·자기표현·자기설계·자기실행)와
  4라벨(본질·한 마디·키워드·결합) 공통 유지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페이지 합계 256p (16의 배수 · 16절판)
  속표지·간지 8p + 본문 248p</a:t>
            </a:r>
          </a:p>
          <a:p>
            <a:pPr algn="l">
              <a:lnSpc>
                <a:spcPct val="165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· 전 부 일반 인쇄 — VDP 없음
  Part 0 7항목은 사용자가 손글씨로 옮겨 적음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3D2A"/>
                </a:solidFill>
                <a:latin typeface="Noto Sans CJK KR"/>
                <a:ea typeface="Noto Sans CJK KR"/>
              </a:rPr>
              <a:t>Part 0 ~ Part 7 구조표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40280"/>
            <a:ext cx="73152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468880"/>
            <a:ext cx="502920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328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5328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328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내용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834640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8803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Part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8036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8036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리포트 발췌 (손글씨 7항목, 4SE 2p) + 시작일 기입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145536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19125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Part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19125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12p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1912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13영역 인생 지도 (압축)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456432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5021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연간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50215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4p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5021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YEAR 1 + YEAR 2 (Undated 만년형 v1.4 ★)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67328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8130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Part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81304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10p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81304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연간 비전 · 90일 마일스톤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078224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12394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월간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1239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24p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12394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12개월 × 2p · Undated (요일/연도 직접 기입)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389120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4348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Part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43484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104p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348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주간 펼침면 52주 × 2p + Weekly Deep Dive Day (v1.4)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700016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7457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Part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74573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18p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74573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영역별 분기 회고 (v1.4: 26p→18p 압축)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010912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0566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Part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05663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12p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0566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감사 일기 (월별)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321808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36752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Part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36752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8p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536752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1:1 코칭 약속 · 진척 기록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5632704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567842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Part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67842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32p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567842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부록 7p + Owner Profile 1p + 데일리 저널 24p (v1.4 ★)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5943600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59893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A3D2A"/>
                </a:solidFill>
                <a:latin typeface="Noto Sans CJK KR"/>
                <a:ea typeface="Noto Sans CJK KR"/>
              </a:rPr>
              <a:t>여유 간지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59893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14p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598932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파트 간지 + 16절판 균형용 (v1.4)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6254496"/>
            <a:ext cx="5029200" cy="329184"/>
          </a:xfrm>
          <a:prstGeom prst="rect">
            <a:avLst/>
          </a:prstGeom>
          <a:solidFill>
            <a:srgbClr val="FE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63093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A3D2A"/>
                </a:solidFill>
                <a:latin typeface="Noto Sans CJK KR"/>
                <a:ea typeface="Noto Sans CJK KR"/>
              </a:rPr>
              <a:t>합계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63093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A3D2A"/>
                </a:solidFill>
                <a:latin typeface="Noto Sans CJK KR"/>
                <a:ea typeface="Noto Sans CJK KR"/>
              </a:rPr>
              <a:t>240p + 16p = 256p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630936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16의 배수 · 16절판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Part 0 — 리포트 발췌 (손글씨 7항목 · 10p · 4SE 2p 분할 v1.3)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2560320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100% 자기화 — 손글씨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사용자가 리포트 결과를 손으로 자기 다이어리에 옮겨 적는 의식 — 자기 관련 기억 강화 (인지심리학 연구)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3D2A"/>
                </a:solidFill>
                <a:latin typeface="Noto Sans CJK KR"/>
                <a:ea typeface="Noto Sans CJK KR"/>
              </a:rPr>
              <a:t>빈칸 라벨 + 손글씨 영역 (7항목 × 1p)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7180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1.  사명 (Mission)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핵심 문장 1줄 + 보조 문장 1줄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3872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2.  비전 (Vision)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38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핵심 문장 1줄 + 보조 문장 1줄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2277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3.  4SE 응답 강도(%) 2p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227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Page A: 자기이해+자기표현 / Page B: 자기설계+자기실행 (v1.3)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0682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4.  TOP3 강점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3068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성장 가이드맵에서 발췌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908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5.  TOP2 성장 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6908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성장 가이드맵에서 발췌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6.  실행 프로파일 6필드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유형/스타일/추진력/몰입환경/활동/도구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5896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7.  추천 진로 3카드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4589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추천 진로 · 추천 교육 · 확장 방향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606040"/>
            <a:ext cx="4690872" cy="35204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2606040"/>
            <a:ext cx="54864" cy="352044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2697480"/>
            <a:ext cx="44348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0A3D2A"/>
                </a:solidFill>
                <a:latin typeface="Noto Sans CJK KR"/>
                <a:ea typeface="Noto Sans CJK KR"/>
              </a:rPr>
              <a:t>제조사 견적 요청 사항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70g 종이 — 손글씨 친화도 테스트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  (만년필·중성펜 번짐 없음)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펼침 180° 평평도 (양장 사철) — 양면 필기 안정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빈칸 행 간격 7mm — 손글씨 가독성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라벨 서체: Noto Sans CJK KR Light 9pt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단일 일반 인쇄 — VDP 없음, 전수량 동일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→ 사양서 PDF v1.4 §4 와 동일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Part 1 · 2 — 13영역 인생지도 + 연간 비전 (28p)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5486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1 — 13영역 인생 지도 (12p)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페이지 구성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13영역 명칭만 인쇄 (인생포트폴리오 IP)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점수 칸 / 메모 칸은 빈칸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1영역당 약 1.2p 할당</a:t>
            </a:r>
          </a:p>
          <a:p>
            <a:pPr algn="l">
              <a:lnSpc>
                <a:spcPct val="155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13영역 라벨 (보고서 6.2 그대로)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신앙·소명 / 가족·관계 / 직업·경력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재정·자산 / 건강·체력 / 학습·성장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취미·여가 / 봉사·기여 / 자기관리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거주·환경 / 인간관계 / 정서·내면 / 유산·미래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486400" cy="5486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2 — 연간 비전 · 90일 마일스톤 (10p)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페이지 구성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“VISION” 박스 + “분기 마일스톤 3개” 라벨만 인쇄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빈칸은 사용자가 검사 리포트 비전 카드 보고 옮겨 적음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연간 → 분기 → 90일 분할 (QPR 방식)</a:t>
            </a:r>
          </a:p>
          <a:p>
            <a:pPr algn="l">
              <a:lnSpc>
                <a:spcPct val="155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매핑되는 검사 리포트 항목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리포트 페이지 1 — 비전 카드의 핵심·보조 문장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실행 프로그램 페이지 1 — 분기 테마 카드 1개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실행 프로그램 페이지 3 — 3개월 카드 3개</a:t>
            </a:r>
          </a:p>
          <a:p>
            <a:pPr algn="l">
              <a:lnSpc>
                <a:spcPct val="155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C9A04F"/>
                </a:solidFill>
                <a:latin typeface="Noto Sans CJK KR"/>
                <a:ea typeface="Noto Sans CJK KR"/>
              </a:rPr>
              <a:t>→ 라벨·항목명 운영 PDF와 100% 정합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Part 3 — 주간 펼침면 52주 × 2p + Weekly Deep Dive Day (104p · v1.4)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Noto Sans CJK KR"/>
                <a:ea typeface="Noto Sans CJK KR"/>
              </a:rPr>
              <a:t>자체 5대 IP: 주간 사명 + ABC 우선순위 + 실행 의도 + 도트 메모 + 3줄 회고 — 좌측 계획 / 우측 메모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5394960" cy="3611880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LEFT — 이번 주 우선순위 · 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883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Week ##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① 이번 주 사명 (1줄)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310128"/>
            <a:ext cx="5029200" cy="700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② A · B · C 우선순위 (Must·Should·Could)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675888"/>
            <a:ext cx="256032" cy="201168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66744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3840480"/>
            <a:ext cx="470916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3931920"/>
            <a:ext cx="256032" cy="201168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4096512"/>
            <a:ext cx="470916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4187952"/>
            <a:ext cx="256032" cy="201168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78808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4352544"/>
            <a:ext cx="470916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26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③ If-Then 3개 (실행 의도 부착)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892040"/>
            <a:ext cx="484632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" y="5093208"/>
            <a:ext cx="484632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294376"/>
            <a:ext cx="484632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4132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④ 요일별 일정 (월→일 간소)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23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74151"/>
                </a:solidFill>
                <a:latin typeface="Noto Sans CJK KR"/>
                <a:ea typeface="Noto Sans CJK KR"/>
              </a:rPr>
              <a:t>월 · 화 · 수 · 목 · 금 · 토 · 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377440"/>
            <a:ext cx="5394960" cy="3611880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450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RIGHT — 자유 메모 + 이번 주 회고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6883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도트 그리드 7mm + 회고 3줄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1546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· 7mm 도트 그리드 자유 메모 영역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3429000"/>
            <a:ext cx="5029200" cy="1600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76872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32904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88936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44968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57032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13064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69096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25128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81160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37192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93224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49256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05288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61320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17352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073384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20840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76872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32904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88936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44968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1000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57032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13064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69096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25128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1160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37192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93224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49256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305288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61320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817352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073384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20840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76872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32904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88936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44968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01000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57032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513064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69096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025128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81160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37192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93224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9256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305288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61320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817352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73384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720840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976872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32904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488936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44968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01000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57032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13064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769096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025128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81160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37192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793224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49256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05288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1320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817352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073384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20840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76872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32904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488936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744968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001000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257032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13064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769096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025128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281160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537192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793224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049256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305288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561320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817352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73384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720840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976872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232904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488936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744968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001000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257032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513064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9096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025128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281160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537192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793224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049256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305288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561320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817352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073384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720840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976872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232904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488936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744968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001000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257032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513064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769096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025128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281160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537192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793224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049256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305288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561320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817352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073384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20840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76872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232904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488936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744968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001000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257032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513064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769096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25128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281160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537192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793224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049256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305288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561320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0817352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073384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537960" y="51663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⑤ 이번 주 회고 3줄 (자체 IP)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537960" y="53949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0A3D2A"/>
                </a:solidFill>
                <a:latin typeface="Noto Sans CJK KR"/>
                <a:ea typeface="Noto Sans CJK KR"/>
              </a:rPr>
              <a:t>잘된 것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360920" y="5532120"/>
            <a:ext cx="420624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537960" y="55961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0A3D2A"/>
                </a:solidFill>
                <a:latin typeface="Noto Sans CJK KR"/>
                <a:ea typeface="Noto Sans CJK KR"/>
              </a:rPr>
              <a:t>배운 것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360920" y="5733288"/>
            <a:ext cx="420624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537960" y="579729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0A3D2A"/>
                </a:solidFill>
                <a:latin typeface="Noto Sans CJK KR"/>
                <a:ea typeface="Noto Sans CJK KR"/>
              </a:rPr>
              <a:t>다음 주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60920" y="5934456"/>
            <a:ext cx="420624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7724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Noto Sans CJK KR"/>
                <a:ea typeface="Noto Sans CJK KR"/>
              </a:rPr>
              <a:t>자체 IP 차별화: ① 주간 사명 · ② ABC 우선순위 · ③ If-Then 실행 의도 · ④ 7mm 도트 그리드 · ⑤ 3줄 회고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Part 4 · 5 — 분기 회고 + 감사 일기 (64p)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5486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4 — 영역별 분기 회고 (4p × 13 = 52p)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구성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영역명 인쇄(인생포트폴리오 13영역)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표현적 글쓰기 4문항 빈칸 (자기 이해 회고 기법)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1영역당 4p (분기당 1p 회고)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표현적 글쓰기 4문항 (고정 라벨)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Q1. 지난 분기 이 영역에서 일어난 사건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Q2. 그때 느낀 감정과 생각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Q3. 그것이 내게 의미하는 바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Q4. 다음 분기의 의도와 행동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6B7280"/>
                </a:solidFill>
                <a:latin typeface="Noto Sans CJK KR"/>
                <a:ea typeface="Noto Sans CJK KR"/>
              </a:rPr>
              <a:t>근거: 표현적 글쓰기 — 사실→감정→의미→의도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486400" cy="5486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5 — 감사 일기 월별 (12p)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구성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월 1p (12개월)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라벨 "이번 달 감사 3가지" 인쇄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빈칸 3줄 + 우측 짧은 메모 칸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디자인 원칙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페이지 상단에 월 / 년 표기만 인쇄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빈 공간 비율 70% 이상 — 사용자 공간 확보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골드 라인 1줄로 시각적 분리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6B7280"/>
                </a:solidFill>
                <a:latin typeface="Noto Sans CJK KR"/>
                <a:ea typeface="Noto Sans CJK KR"/>
              </a:rPr>
              <a:t>근거: Cregg &amp; Cheavens(2024) — Gratitude RCT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Part 6 · 7 — 1:1 코칭 기록 + 부록 (20p)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5486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6 — 1:1 코칭 약속 · 진척 기록 (8p)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A3D2A"/>
                </a:solidFill>
                <a:latin typeface="Noto Sans CJK KR"/>
                <a:ea typeface="Noto Sans CJK KR"/>
              </a:rPr>
              <a:t>성과 추적 보드 — 4컬럼 표 (실행 프로그램 PDF p4 동일)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17520"/>
            <a:ext cx="64008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  <a:ea typeface="Noto Sans CJK KR"/>
              </a:rPr>
              <a:t>주차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3017520"/>
            <a:ext cx="201168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090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  <a:ea typeface="Noto Sans CJK KR"/>
              </a:rPr>
              <a:t>실행 과제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017520"/>
            <a:ext cx="91440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090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  <a:ea typeface="Noto Sans CJK KR"/>
              </a:rPr>
              <a:t>완료(Y/N)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017520"/>
            <a:ext cx="146304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0906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  <a:ea typeface="Noto Sans CJK KR"/>
              </a:rPr>
              <a:t>성찰 메모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83280"/>
            <a:ext cx="6400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383280"/>
            <a:ext cx="20116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383280"/>
            <a:ext cx="91440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383280"/>
            <a:ext cx="146304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703320"/>
            <a:ext cx="6400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3703320"/>
            <a:ext cx="20116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703320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703320"/>
            <a:ext cx="1463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23360"/>
            <a:ext cx="6400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4023360"/>
            <a:ext cx="20116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4023360"/>
            <a:ext cx="91440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023360"/>
            <a:ext cx="146304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343400"/>
            <a:ext cx="6400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17320" y="4343400"/>
            <a:ext cx="20116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4343400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4343400"/>
            <a:ext cx="1463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663440"/>
            <a:ext cx="6400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17320" y="4663440"/>
            <a:ext cx="20116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29000" y="4663440"/>
            <a:ext cx="91440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4663440"/>
            <a:ext cx="146304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983480"/>
            <a:ext cx="6400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17320" y="4983480"/>
            <a:ext cx="20116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29000" y="4983480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4983480"/>
            <a:ext cx="1463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4864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Noto Sans CJK KR"/>
                <a:ea typeface="Noto Sans CJK KR"/>
              </a:rPr>
              <a:t>근거: 사회적 약속 연구 — 글로 쓴 목표 + 타인에게 진척 보고 시 달성률 +78%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1874519"/>
            <a:ext cx="5486400" cy="54864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7 — 부록 (12p)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구성 — 라벨만 인쇄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성경구절 또는 명언 모음 (4p)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13영역 참고 가이드 (4p)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사용 가이드 요약 (2p)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연락처 / 라이선스 / 색인 (2p)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신학 안전 표현 원칙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"성경구절 또는 명언 선택 가능" 중립 표현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Frankl·Dik·Wrzesniewski 등 학술 인용은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  Pre-evangelism / Common Grace 영역에서 안전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자기 너머의 부름을 명시적 vocation으로 동일시 않음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04 · 인쇄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인쇄 구조 — 단일 일반 인쇄 (Single-Layer Print)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Noto Sans CJK KR"/>
                <a:ea typeface="Noto Sans CJK KR"/>
              </a:rPr>
              <a:t>다이어리 1권 = 전 페이지 동일 일반 인쇄 (속표지·간지 8p + 내지 224p). 구매자별 개인화는 사용자가 손글씨로 수행.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091672" cy="18288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91440" cy="182880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33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A3D2A"/>
                </a:solidFill>
                <a:latin typeface="Noto Sans CJK KR"/>
                <a:ea typeface="Noto Sans CJK KR"/>
              </a:rPr>
              <a:t>SINGLE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A3D2A"/>
                </a:solidFill>
                <a:latin typeface="Noto Sans CJK KR"/>
                <a:ea typeface="Noto Sans CJK KR"/>
              </a:rPr>
              <a:t>일반 인쇄 — 빈칸 양식 (라벨만 인쇄 / 사용자가 손글씨로 채움)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적용 범위: Part 0 (8p) — 7항목 빈칸 + Part 1~7 (224p) 전부 동일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장점: 단일 인쇄 = 단가 안정, 제조사 교섭 단순화, VDP 시스템 투자 불필요</a:t>
            </a:r>
          </a:p>
          <a:p>
            <a:pPr algn="l">
              <a:lnSpc>
                <a:spcPct val="150000"/>
              </a:lnSpc>
            </a:pPr>
            <a:r>
              <a:rPr sz="1050" b="1">
                <a:solidFill>
                  <a:srgbClr val="0A3D2A"/>
                </a:solidFill>
                <a:latin typeface="Noto Sans CJK KR"/>
                <a:ea typeface="Noto Sans CJK KR"/>
              </a:rPr>
              <a:t>· 견적 요청: 70g 종이 · 256p · 오프셋/디지털 택1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1091672" cy="1691640"/>
          </a:xfrm>
          <a:prstGeom prst="rect">
            <a:avLst/>
          </a:prstGeom>
          <a:solidFill>
            <a:srgbClr val="FE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91440" cy="169164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A3D2A"/>
                </a:solidFill>
                <a:latin typeface="Noto Sans CJK KR"/>
                <a:ea typeface="Noto Sans CJK KR"/>
              </a:rPr>
              <a:t>개인화 메커니즘 — 자기화(自己化) by 손글씨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Part 0 7항목 (사명/비전/4SE/TOP3/TOP2/실행프로파일/추천진로) — 리포트를 보며 손으로 옮겨 적음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Part 1~7 전보 — 라벨만 인쇄되어 있고 활용 온도는 사용자의 손글씨에서 창출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0A3D2A"/>
                </a:solidFill>
                <a:latin typeface="Noto Sans CJK KR"/>
                <a:ea typeface="Noto Sans CJK KR"/>
              </a:rPr>
              <a:t>· 근거: 인지심리학 연구 — 손글씨가 키보드 입력보다 개념 이해·장기 기억 + 자기 관련 정보 처리에 유리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04 · 인쇄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타이포 · 여백 · 페이지 설계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C9A04F"/>
                </a:solidFill>
                <a:latin typeface="Noto Sans CJK KR"/>
                <a:ea typeface="Noto Sans CJK KR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54864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1945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미니멀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4320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타이포·여백 위주. 사진·일러스트 최소화. 사용자가 빈 공간을 채움.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C9A04F"/>
                </a:solidFill>
                <a:latin typeface="Noto Sans CJK KR"/>
                <a:ea typeface="Noto Sans CJK KR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880360"/>
            <a:ext cx="54864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1945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만년필 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4320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70g 도모에리버 대체재 권장. 비침·번짐 최소. 행간 충분히 확보.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C9A04F"/>
                </a:solidFill>
                <a:latin typeface="Noto Sans CJK KR"/>
                <a:ea typeface="Noto Sans CJK KR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66360"/>
            <a:ext cx="54864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4805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가독성 우선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02920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본문 10.5 ~ 11pt 권장. 한글 행간 1.6 ~ 1.7. 노안 사용자 30~50대 가독성 우선.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20624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C9A04F"/>
                </a:solidFill>
                <a:latin typeface="Noto Sans CJK KR"/>
                <a:ea typeface="Noto Sans CJK KR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166360"/>
            <a:ext cx="54864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4805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A3D2A"/>
                </a:solidFill>
                <a:latin typeface="Noto Sans CJK KR"/>
                <a:ea typeface="Noto Sans CJK KR"/>
              </a:rPr>
              <a:t>빈 공간 = 가치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02920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각 페이지 빈 공간 비율 60% 이상. 사용자의 글쓰기 공간이 곧 다이어리의 핵심 IP.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05 · 견적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A3D2A"/>
                </a:solidFill>
                <a:latin typeface="Noto Sans CJK KR"/>
                <a:ea typeface="Noto Sans CJK KR"/>
              </a:rPr>
              <a:t>견적 요청 항목 + 회신 양식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3D2A"/>
                </a:solidFill>
                <a:latin typeface="Noto Sans CJK KR"/>
                <a:ea typeface="Noto Sans CJK KR"/>
              </a:rPr>
              <a:t>견적 요청 항목 — 8개 (사양서 v1.3 §4 ~ §6)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100584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외관(2)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A5 양장 사철 / PU + 금박·형압·가름끈 2 부속 일괄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71800"/>
            <a:ext cx="100584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종이(1)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175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70g 만년필 친화 — 단일 시나리오 견적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74720"/>
            <a:ext cx="100584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478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페이지(1)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204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256p (속표지·간지 8p + 본문 248p)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77640"/>
            <a:ext cx="100584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07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인쇄(1)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0233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일반 인쇄 1종 — 오프셋/디지털 추천 선택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480560"/>
            <a:ext cx="100584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537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후가공(1)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5262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금박(C9A04F) + 형압 로고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983480"/>
            <a:ext cx="100584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566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포장(1)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292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박스 + 인삿카드 + 사용가이드 8p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486400"/>
            <a:ext cx="1005840" cy="365760"/>
          </a:xfrm>
          <a:prstGeom prst="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595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납기(1)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532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샘플 · 본인쇄 일정 + 예약 옵션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3D2A"/>
                </a:solidFill>
                <a:latin typeface="Noto Sans CJK KR"/>
                <a:ea typeface="Noto Sans CJK KR"/>
              </a:rPr>
              <a:t>회신 양식 — 단일 시나리오 견적표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24028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2468880"/>
            <a:ext cx="1280160" cy="384048"/>
          </a:xfrm>
          <a:prstGeom prst="rect">
            <a:avLst/>
          </a:prstGeom>
          <a:solidFill>
            <a:srgbClr val="0A3D2A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5603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항목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468880"/>
            <a:ext cx="1188720" cy="384048"/>
          </a:xfrm>
          <a:prstGeom prst="rect">
            <a:avLst/>
          </a:prstGeom>
          <a:solidFill>
            <a:srgbClr val="0A3D2A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25603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수량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2468880"/>
            <a:ext cx="2560320" cy="384048"/>
          </a:xfrm>
          <a:prstGeom prst="rect">
            <a:avLst/>
          </a:prstGeom>
          <a:solidFill>
            <a:srgbClr val="0A3D2A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2560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견적·납기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852928"/>
            <a:ext cx="1280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944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샘플 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2852928"/>
            <a:ext cx="1188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29443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1부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2852928"/>
            <a:ext cx="25603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29443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본 계약 이전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3236976"/>
            <a:ext cx="12801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33284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본 제작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3236976"/>
            <a:ext cx="118872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33284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500부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3236976"/>
            <a:ext cx="256032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33284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1차 발주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621024"/>
            <a:ext cx="1280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37124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추가 제작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3621024"/>
            <a:ext cx="1188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0" y="371246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+500부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621024"/>
            <a:ext cx="25603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37124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재주문 옵션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4005072"/>
            <a:ext cx="12801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4096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단가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4005072"/>
            <a:ext cx="118872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80" y="4096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1부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4005072"/>
            <a:ext cx="256032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4096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도매 서적용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4617720"/>
            <a:ext cx="5029200" cy="1508760"/>
          </a:xfrm>
          <a:prstGeom prst="rect">
            <a:avLst/>
          </a:prstGeom>
          <a:solidFill>
            <a:srgbClr val="FE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4617720"/>
            <a:ext cx="54864" cy="150876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0" y="47091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0A3D2A"/>
                </a:solidFill>
                <a:latin typeface="Noto Sans CJK KR"/>
                <a:ea typeface="Noto Sans CJK KR"/>
              </a:rPr>
              <a:t>회신 요청 일정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사양서 수령 후 7영업일 이내 회신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4 시나리오 견적 + VDP 가능 여부 + 납기일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· 회신처: [추후 협의] / 담당자: [추후 협의]</a:t>
            </a:r>
          </a:p>
          <a:p>
            <a:pPr algn="l">
              <a:lnSpc>
                <a:spcPct val="150000"/>
              </a:lnSpc>
            </a:pPr>
            <a:r>
              <a:rPr sz="1050" b="1">
                <a:solidFill>
                  <a:srgbClr val="0A3D2A"/>
                </a:solidFill>
                <a:latin typeface="Noto Sans CJK KR"/>
                <a:ea typeface="Noto Sans CJK KR"/>
              </a:rPr>
              <a:t>· 비교 후 1개 제조사 샘플 제작 의뢰 진행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v1.4.2 · 500부 견적 요청    |  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