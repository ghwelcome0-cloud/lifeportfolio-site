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515600" cy="2286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6309360"/>
            <a:ext cx="10515600" cy="2286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852160" y="2651760"/>
            <a:ext cx="457200" cy="1371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>
                <a:solidFill>
                  <a:srgbClr val="C9A04F"/>
                </a:solidFill>
                <a:latin typeface="Noto Sans CJK KR"/>
                <a:ea typeface="Noto Sans CJK KR"/>
              </a:rPr>
              <a:t>LIFE ·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5400" b="1">
                <a:solidFill>
                  <a:srgbClr val="FEF7E6"/>
                </a:solidFill>
                <a:latin typeface="Noto Sans CJK KR"/>
                <a:ea typeface="Noto Sans CJK KR"/>
              </a:rPr>
              <a:t>인생포트폴리오</a:t>
            </a:r>
          </a:p>
        </p:txBody>
      </p:sp>
      <p:sp>
        <p:nvSpPr>
          <p:cNvPr id="8" name="Rectangle 7"/>
          <p:cNvSpPr/>
          <p:nvPr/>
        </p:nvSpPr>
        <p:spPr>
          <a:xfrm>
            <a:off x="5623560" y="4892040"/>
            <a:ext cx="914400" cy="2286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0749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C9A04F"/>
                </a:solidFill>
                <a:latin typeface="Noto Sans CJK KR"/>
                <a:ea typeface="Noto Sans CJK KR"/>
              </a:rPr>
              <a:t>Only 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목차 — 5개 챕터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9659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제품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011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한 줄 정의 · 타겟 사용자 · 사용 시나리오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20116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3 ~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560320"/>
            <a:ext cx="1083564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974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43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외관 사양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7889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사이즈 · 표지 · 컬러 · 종이 · 마감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27889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5 ~ 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7560"/>
            <a:ext cx="1083564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5204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속지 구조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5661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Part 0 ~ Part 7 · 합계 256p · Undated 만년형 · 데일리 저널 24p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35661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8 ~ 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4800"/>
            <a:ext cx="1083564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519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2976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인쇄 구조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3434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일반 인쇄 단일 층 / 손글씨 친화 타이포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4343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14 ~ 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92040"/>
            <a:ext cx="1083564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0292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0749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견적 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120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8개 항목 + 회신 양식 + 일정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5120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16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v1.4 · 500부 견적 요청    |    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01 · 제품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제품 한 줄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731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0" b="1">
                <a:solidFill>
                  <a:srgbClr val="C9A04F"/>
                </a:solidFill>
                <a:latin typeface="Noto Sans CJK KR"/>
                <a:ea typeface="Noto Sans CJK KR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28600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A2B4A"/>
                </a:solidFill>
                <a:latin typeface="Noto Sans CJK KR"/>
                <a:ea typeface="Noto Sans CJK KR"/>
              </a:rPr>
              <a:t>자기 검사 리포트가 그대로
옮겨 적히는 1년치 자기설계 다이어리.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4754880"/>
            <a:ext cx="228600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493776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374151"/>
                </a:solidFill>
                <a:latin typeface="Noto Sans CJK KR"/>
                <a:ea typeface="Noto Sans CJK KR"/>
              </a:rPr>
              <a:t>검사 리포트의 4SE(자기이해/자기표현/자기설계/자기실행)와 실행 프로그램의 3주·3개월·1년 구조를 그대로 받아 적는 빈칸 양식을 갖춘다. 다이어리는 리포트의 연장선이며, 두 산출물의 라벨·항목명·순서는 100% 일치한다.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v1.4 · 500부 견적 요청    |    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01 · 제품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타겟 사용자 &amp; 사용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타겟 사용자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3035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30 ~ 50대 자기설계 의지자</a:t>
            </a:r>
          </a:p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검사·진단 도구를 일상에 통합하려는 직장인 / 사업자</a:t>
            </a:r>
          </a:p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1년 단위 목표 설계 + 주간 실행 점검을 병행하려는 사용자</a:t>
            </a:r>
          </a:p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만년필·종이 다이어리를 선호하는 아날로그 친화 사용자</a:t>
            </a:r>
          </a:p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신앙/철학/인문적 분기점을 일상에 두려는 독자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사용 시나리오 (3 step)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28600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2560320"/>
            <a:ext cx="822960" cy="7772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724912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STEP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6060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2B4A"/>
                </a:solidFill>
                <a:latin typeface="Noto Sans CJK KR"/>
                <a:ea typeface="Noto Sans CJK KR"/>
              </a:rPr>
              <a:t>검사 응답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9260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온라인 검사 도구로 본인의 사명·비전·4SE 결과 도출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520440"/>
            <a:ext cx="822960" cy="7772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685032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566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2B4A"/>
                </a:solidFill>
                <a:latin typeface="Noto Sans CJK KR"/>
                <a:ea typeface="Noto Sans CJK KR"/>
              </a:rPr>
              <a:t>리포트 수령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8862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PDF 검사 리포트 5p + 실행 프로그램 PDF 6p 발급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4480560"/>
            <a:ext cx="822960" cy="7772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645152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5262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2B4A"/>
                </a:solidFill>
                <a:latin typeface="Noto Sans CJK KR"/>
                <a:ea typeface="Noto Sans CJK KR"/>
              </a:rPr>
              <a:t>다이어리 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84632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다이어리 Part 0~7의 빈칸 양식에 리포트 결과를 옮겨 적음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v1.4 · 500부 견적 요청    |    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02 · 외관 사양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외관 사양 한눈에 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사이즈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31720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A5 (148 × 210mm)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몰스킨 위클리 라지와 동일 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39" y="1920240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39" y="1920240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39" y="20574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표지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39" y="2331720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PU 양장 + 금박 박표지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39" y="2788920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형압 인생포트폴리오 로고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38" y="1920240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38" y="1920240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38" y="20574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제본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38" y="2331720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양장 사철 (Smyth-sewn)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38" y="2788920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180° 펼침 — 만년필 작성 친화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2152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502152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부속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913632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가름끈 2개 / 모서리 코너 4개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370832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인덱스 박 / 뒷주머니 1개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39" y="3502152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34839" y="3502152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39" y="3639312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포장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39" y="3913632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박스 + 인삿말 카드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39" y="4370832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+ 사용 가이드 8p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21038" y="3502152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21038" y="3502152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9638" y="3639312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페이지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38" y="3913632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256p (16의 배수 · 16절판 최적)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38" y="4370832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속표지·간지 8p + 본문 248p — 70g 단일 견적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v1.4 · 500부 견적 요청    |    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02 · 외관 사양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컬러 &amp; 마감 옵션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2606040" cy="19202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26060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CLASSIC NAVY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062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클래식 네이비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기본 컬러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920240"/>
            <a:ext cx="2606040" cy="1920240"/>
          </a:xfrm>
          <a:prstGeom prst="rect">
            <a:avLst/>
          </a:prstGeom>
          <a:solidFill>
            <a:srgbClr val="6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3840480"/>
            <a:ext cx="26060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3931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BURGUNDY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2062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버건디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572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옵션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920240"/>
            <a:ext cx="2606040" cy="1920240"/>
          </a:xfrm>
          <a:prstGeom prst="rect">
            <a:avLst/>
          </a:prstGeom>
          <a:solidFill>
            <a:srgbClr val="1F3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840480"/>
            <a:ext cx="26060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931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FOREST 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2062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그린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572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옵션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1920240"/>
            <a:ext cx="2606040" cy="1920240"/>
          </a:xfrm>
          <a:prstGeom prst="rect">
            <a:avLst/>
          </a:prstGeom>
          <a:solidFill>
            <a:srgbClr val="3D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3840480"/>
            <a:ext cx="26060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3931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LIMITED EDITION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42062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한정판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4572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별도 협의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120640"/>
            <a:ext cx="11091672" cy="1188720"/>
          </a:xfrm>
          <a:prstGeom prst="rect">
            <a:avLst/>
          </a:prstGeom>
          <a:solidFill>
            <a:srgbClr val="FE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120640"/>
            <a:ext cx="54864" cy="11887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257800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C9A04F"/>
                </a:solidFill>
                <a:latin typeface="Noto Sans CJK KR"/>
                <a:ea typeface="Noto Sans CJK KR"/>
              </a:rPr>
              <a:t>표지 마감 사양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표지 본체: PU 양장 (제조사 추천 자재 1종 + 대안 1종 제시 요청)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박표지: 골드 박(#C9A04F 톤) + 형압(blind emboss) 인생포트폴리오 로고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측면(에지): 무가공 — 만년필 친화 + 페이지 펼침 안정성 우선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v1.4 · 500부 견적 요청    |    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02 · 외관 사양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종이 사양 — 만년필 친화 70g 단일 견적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374151"/>
                </a:solidFill>
                <a:latin typeface="Noto Sans CJK KR"/>
                <a:ea typeface="Noto Sans CJK KR"/>
              </a:rPr>
              <a:t>손글씨 다이어리 — 만년필·중성펜 친화 70g 단일 시나리오 (v1.4 · Undated 만년형)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11091672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11091672" cy="6400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15184"/>
            <a:ext cx="10543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A2B4A"/>
                </a:solidFill>
                <a:latin typeface="Noto Sans CJK KR"/>
                <a:ea typeface="Noto Sans CJK KR"/>
              </a:rPr>
              <a:t>만년필 친화 70g — 도모에리버 / OK Fools 대체재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3756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100" b="1">
                <a:solidFill>
                  <a:srgbClr val="C9A04F"/>
                </a:solidFill>
                <a:latin typeface="Noto Sans CJK KR"/>
                <a:ea typeface="Noto Sans CJK KR"/>
              </a:rPr>
              <a:t>규격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평량: 70gsm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색상: 아이보리 / 미색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두께감: 적정 — 256p 기준 책등 약 20mm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비침: 거의 없음 — 양면 필기 안정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만년필 잉크 번짐: 최소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33756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100" b="1">
                <a:solidFill>
                  <a:srgbClr val="C9A04F"/>
                </a:solidFill>
                <a:latin typeface="Noto Sans CJK KR"/>
                <a:ea typeface="Noto Sans CJK KR"/>
              </a:rPr>
              <a:t>선택 이유 (v1.4)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Part 0 7항목·Part 3 자유 메모를 손글씨로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  채우는 "손글씨 다이어리" 컨셉 — 70g 단일 최적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80g 보급형은 만년필 사용 시 비침 발생 → 제외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256p × 70g = 휴대성 + 1년 기록 충분 (몰스킨급)</a:t>
            </a:r>
          </a:p>
          <a:p>
            <a:pPr algn="l">
              <a:lnSpc>
                <a:spcPct val="16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· 견적 단일화로 발주 의사결정 단축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v1.4 · 500부 견적 요청    |    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속지 구조 개요 — Part 0 ~ Part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구조 원칙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73152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530352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검사 리포트 5p + 실행 프로그램 6p의 항목명을
  다이어리 빈칸 양식에 그대로 반영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4SE(자기이해·자기표현·자기설계·자기실행)와
  4라벨(본질·한 마디·키워드·결합) 공통 유지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페이지 합계 256p (16의 배수 · 16절판)
  속표지·간지 8p + 본문 248p</a:t>
            </a:r>
          </a:p>
          <a:p>
            <a:pPr algn="l">
              <a:lnSpc>
                <a:spcPct val="16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· 전 부 일반 인쇄 — VDP 없음
  Part 0 7항목은 사용자가 손글씨로 옮겨 적음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87451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Part 0 ~ Part 7 구조표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240280"/>
            <a:ext cx="73152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2468880"/>
            <a:ext cx="502920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5328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Part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532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페이지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53288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내용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34640"/>
            <a:ext cx="5029200" cy="310896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88036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Part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880360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10p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8803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리포트 발췌 (손글씨 7항목, 4SE 2p) + 시작일 기입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145536"/>
            <a:ext cx="50292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19125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Part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191256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12p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191256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13영역 인생 지도 (압축)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3456432"/>
            <a:ext cx="5029200" cy="310896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350215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50215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4p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50215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YEAR 1 + YEAR 2 (Undated 만년형 v1.4 ★)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3767328"/>
            <a:ext cx="50292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381304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Part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381304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10p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381304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연간 비전 · 90일 마일스톤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4078224"/>
            <a:ext cx="5029200" cy="310896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4123944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월간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12394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24p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412394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12개월 × 2p · Undated (요일/연도 직접 기입)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4389120"/>
            <a:ext cx="50292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443484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Part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4434840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104p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443484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주간 펼침면 52주 × 2p + Weekly Deep Dive Day (v1.4)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0" y="4700016"/>
            <a:ext cx="5029200" cy="310896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47457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Part 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80960" y="4745736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18p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4745736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영역별 분기 회고 (v1.4: 26p→18p 압축)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0" y="5010912"/>
            <a:ext cx="50292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505663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Part 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05663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12p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505663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감사 일기 (월별)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0" y="5321808"/>
            <a:ext cx="5029200" cy="310896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536752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Part 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536752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8p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95360" y="536752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1:1 코칭 약속 · 진척 기록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0" y="5632704"/>
            <a:ext cx="502920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0" y="5678424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Part 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567842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32p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95360" y="567842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부록 7p + Owner Profile 1p + 데일리 저널 24p (v1.4 ★)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0" y="5943600"/>
            <a:ext cx="5029200" cy="310896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75120" y="598932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A2B4A"/>
                </a:solidFill>
                <a:latin typeface="Noto Sans CJK KR"/>
                <a:ea typeface="Noto Sans CJK KR"/>
              </a:rPr>
              <a:t>여유 간지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5989320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14p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95360" y="598932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F2937"/>
                </a:solidFill>
                <a:latin typeface="Noto Sans CJK KR"/>
                <a:ea typeface="Noto Sans CJK KR"/>
              </a:rPr>
              <a:t>파트 간지 + 16절판 균형용 (v1.4)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0" y="6254496"/>
            <a:ext cx="5029200" cy="329184"/>
          </a:xfrm>
          <a:prstGeom prst="rect">
            <a:avLst/>
          </a:prstGeom>
          <a:solidFill>
            <a:srgbClr val="FE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75120" y="630936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합계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80960" y="6309360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240p + 16p = 256p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92640" y="630936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16의 배수 · 16절판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v1.4 · 500부 견적 요청    |    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0 — 리포트 발췌 (손글씨 7항목 · 10p · 4SE 2p 분할 v1.3)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2560320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4767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100% 자기화 — 손글씨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96596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사용자가 리포트 결과를 손으로 자기 다이어리에 옮겨 적는 의식 — 자기 관련 기억 +α (Mueller &amp; Oppenheimer, 2014)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빈칸 라벨 + 손글씨 영역 (7항목 × 1p)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7180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154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1.  사명 (Mission)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154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핵심 문장 1줄 + 보조 문장 1줄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3872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2.  비전 (Vision)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5387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핵심 문장 1줄 + 보조 문장 1줄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92277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3.  4SE 응답 강도(%) 2p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9227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Page A: 자기이해+자기표현 / Page B: 자기설계+자기실행 (v1.3)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0682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4.  TOP3 강점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30682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성장 가이드맵에서 발췌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908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5.  TOP2 성장 포인트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469087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성장 가이드맵에서 발췌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0749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6.  실행 프로파일 6필드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0749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유형/스타일/추진력/몰입환경/활동/도구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5896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7.  추천 진로 3카드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4589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추천 진로 · 추천 교육 · 확장 방향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606040"/>
            <a:ext cx="4690872" cy="352044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49440" y="2606040"/>
            <a:ext cx="54864" cy="352044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8040" y="2697480"/>
            <a:ext cx="44348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제조사 견적 요청 사항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70g 종이 — 손글씨 친화도 테스트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  (만년필·중성펜 번짐 없음)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펼침 180° 평평도 (양장 사철) — 양면 필기 안정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빈칸 행 간격 7mm — 손글씨 가독성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라벨 서체: Noto Sans CJK KR Light 9pt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단일 일반 인쇄 — VDP 없음, 전수량 동일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→ 사양서 PDF v1.4 §4 와 동일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v1.4 · 500부 견적 요청    |    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1 · 2 — 13영역 인생지도 + 연간 비전 (28p)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1 — 13영역 인생 지도 (12p)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페이지 구성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13영역 명칭만 인쇄 (인생포트폴리오 IP)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점수 칸 / 메모 칸은 빈칸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1영역당 약 1.2p 할당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13영역 라벨 (보고서 6.2 그대로)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신앙·소명 / 가족·관계 / 직업·경력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재정·자산 / 건강·체력 / 학습·성장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취미·여가 / 봉사·기여 / 자기관리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거주·환경 / 인간관계 / 정서·내면 / 유산·미래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2 — 연간 비전 · 90일 마일스톤 (10p)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페이지 구성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“VISION” 박스 + “분기 마일스톤 3개” 라벨만 인쇄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빈칸은 사용자가 검사 리포트 비전 카드 보고 옮겨 적음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Hyatt 스타일 — 연간 → 분기 → 90일 분할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매핑되는 검사 리포트 항목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리포트 페이지 1 — 비전 카드의 핵심·보조 문장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실행 프로그램 페이지 1 — 분기 테마 카드 1개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실행 프로그램 페이지 3 — 3개월 카드 3개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1">
                <a:solidFill>
                  <a:srgbClr val="C9A04F"/>
                </a:solidFill>
                <a:latin typeface="Noto Sans CJK KR"/>
                <a:ea typeface="Noto Sans CJK KR"/>
              </a:rPr>
              <a:t>→ 라벨·항목명 운영 PDF와 100% 정합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v1.4 · 500부 견적 요청    |    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3 — 주간 펼침면 52주 × 2p + Weekly Deep Dive Day (104p · v1.4)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74151"/>
                </a:solidFill>
                <a:latin typeface="Noto Sans CJK KR"/>
                <a:ea typeface="Noto Sans CJK KR"/>
              </a:rPr>
              <a:t>몰스킨 위클리 + 프랭클린 우선순위 하이브리드 — 좌측 계획 / 우측 메모 (자체 IP 5대 차별화 적용)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77440"/>
            <a:ext cx="5394960" cy="3611880"/>
          </a:xfrm>
          <a:prstGeom prst="rect">
            <a:avLst/>
          </a:prstGeom>
          <a:solidFill>
            <a:srgbClr val="F9FAFB"/>
          </a:solidFill>
          <a:ln w="889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LEFT — 이번 주 우선순위 · 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883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Week ##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63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① 이번 주 사명 (1줄)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3310128"/>
            <a:ext cx="5029200" cy="700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2900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② A · B · C 우선순위 (프랭클린 참고)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675888"/>
            <a:ext cx="256032" cy="201168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666744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  <a:ea typeface="Noto Sans CJK KR"/>
              </a:rPr>
              <a:t>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3840480"/>
            <a:ext cx="470916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0120" y="3931920"/>
            <a:ext cx="256032" cy="201168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22776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  <a:ea typeface="Noto Sans CJK KR"/>
              </a:rPr>
              <a:t>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80160" y="4096512"/>
            <a:ext cx="470916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4187952"/>
            <a:ext cx="256032" cy="201168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78808"/>
            <a:ext cx="256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>
                <a:solidFill>
                  <a:srgbClr val="FFFFFF"/>
                </a:solidFill>
                <a:latin typeface="Noto Sans CJK KR"/>
                <a:ea typeface="Noto Sans CJK KR"/>
              </a:rPr>
              <a:t>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0160" y="4352544"/>
            <a:ext cx="470916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526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③ If-Then 3개 (Gollwitzer 실행 의도)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4892040"/>
            <a:ext cx="484632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5093208"/>
            <a:ext cx="484632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5294376"/>
            <a:ext cx="484632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41324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④ 요일별 일정 (월→일 간소)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623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74151"/>
                </a:solidFill>
                <a:latin typeface="Noto Sans CJK KR"/>
                <a:ea typeface="Noto Sans CJK KR"/>
              </a:rPr>
              <a:t>월 · 화 · 수 · 목 · 금 · 토 · 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2377440"/>
            <a:ext cx="5394960" cy="3611880"/>
          </a:xfrm>
          <a:prstGeom prst="rect">
            <a:avLst/>
          </a:prstGeom>
          <a:solidFill>
            <a:srgbClr val="F9FAFB"/>
          </a:solidFill>
          <a:ln w="889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2450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RIGHT — 자유 메모 + 이번 주 회고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26883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도트 그리드 7mm + 회고 3줄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· 7mm 도트 그리드 자유 메모 영역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3429000"/>
            <a:ext cx="5029200" cy="160020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20840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976872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32904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88936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44968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57032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513064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769096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25128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281160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37192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793224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49256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305288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61320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817352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073384" y="35935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720840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976872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232904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88936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44968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001000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257032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513064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769096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25128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281160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537192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793224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049256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305288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61320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817352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1073384" y="37764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720840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976872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32904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488936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44968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001000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257032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513064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69096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025128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281160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537192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793224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49256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305288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1320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817352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73384" y="39593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720840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976872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232904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488936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44968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01000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57032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513064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769096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025128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281160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537192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793224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49256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305288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1320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817352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073384" y="414223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20840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976872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232904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88936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744968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001000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257032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8513064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769096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025128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281160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537192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793224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049256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05288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561320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817352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1073384" y="432511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720840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976872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232904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488936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744968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001000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257032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513064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769096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025128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9281160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537192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793224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0049256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305288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0561320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0817352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1073384" y="450799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720840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6976872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32904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7488936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7744968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8001000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8257032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513064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8769096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025128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9281160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9537192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9793224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0049256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305288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561320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0817352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073384" y="469087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720840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6976872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7232904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7488936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7744968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001000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257032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8513064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769096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9025128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9281160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537192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793224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049256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305288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561320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0817352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1073384" y="4873752"/>
            <a:ext cx="20000" cy="20000"/>
          </a:xfrm>
          <a:prstGeom prst="rect">
            <a:avLst/>
          </a:prstGeom>
          <a:solidFill>
            <a:srgbClr val="C0C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537960" y="51663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C9A04F"/>
                </a:solidFill>
                <a:latin typeface="Noto Sans CJK KR"/>
                <a:ea typeface="Noto Sans CJK KR"/>
              </a:rPr>
              <a:t>⑤ 이번 주 회고 3줄 (자체 IP)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537960" y="539496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1A2B4A"/>
                </a:solidFill>
                <a:latin typeface="Noto Sans CJK KR"/>
                <a:ea typeface="Noto Sans CJK KR"/>
              </a:rPr>
              <a:t>잘된 것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360920" y="5532120"/>
            <a:ext cx="420624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537960" y="55961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1A2B4A"/>
                </a:solidFill>
                <a:latin typeface="Noto Sans CJK KR"/>
                <a:ea typeface="Noto Sans CJK KR"/>
              </a:rPr>
              <a:t>배운 것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7360920" y="5733288"/>
            <a:ext cx="420624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537960" y="579729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1A2B4A"/>
                </a:solidFill>
                <a:latin typeface="Noto Sans CJK KR"/>
                <a:ea typeface="Noto Sans CJK KR"/>
              </a:rPr>
              <a:t>다음 주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7360920" y="5934456"/>
            <a:ext cx="420624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77240" y="6126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B7280"/>
                </a:solidFill>
                <a:latin typeface="Noto Sans CJK KR"/>
                <a:ea typeface="Noto Sans CJK KR"/>
              </a:rPr>
              <a:t>자체 IP 차별화: ① 주간 사명 · ② 프랭클린 우선순위 · ③ Gollwitzer If-Then · ④ 몰스킨 서셋 · ⑤ 자체 3줄 회고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v1.4 · 500부 견적 요청    |    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4 · 5 — 분기 회고 + 감사 일기 (64p)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4 — 영역별 분기 회고 (4p × 13 = 52p)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구성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영역명 인쇄(인생포트폴리오 13영역)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Pennebaker 표현적 글쓰기 4문항 빈칸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1영역당 4p (분기당 1p 회고)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Pennebaker 4문항(고정 라벨)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Q1. 지난 분기 이 영역에서 일어난 사건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Q2. 그때 느낀 감정과 생각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Q3. 그것이 내게 의미하는 바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Q4. 다음 분기의 의도와 행동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950" b="0">
                <a:solidFill>
                  <a:srgbClr val="6B7280"/>
                </a:solidFill>
                <a:latin typeface="Noto Sans CJK KR"/>
                <a:ea typeface="Noto Sans CJK KR"/>
              </a:rPr>
              <a:t>근거: Pennebaker(1986) — Expressive Writing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5 — 감사 일기 월별 (12p)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구성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월 1p (12개월)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라벨 "이번 달 감사 3가지" 인쇄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빈칸 3줄 + 우측 짧은 메모 칸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디자인 원칙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페이지 상단에 월 / 년 표기만 인쇄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빈 공간 비율 70% 이상 — 사용자 공간 확보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골드 라인 1줄로 시각적 분리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950" b="0">
                <a:solidFill>
                  <a:srgbClr val="6B7280"/>
                </a:solidFill>
                <a:latin typeface="Noto Sans CJK KR"/>
                <a:ea typeface="Noto Sans CJK KR"/>
              </a:rPr>
              <a:t>근거: Cregg &amp; Cheavens(2024) — Gratitude RCT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v1.4 · 500부 견적 요청    |    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6 · 7 — 1:1 코칭 기록 + 부록 (20p)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6 — 1:1 코칭 약속 · 진척 기록 (8p)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A2B4A"/>
                </a:solidFill>
                <a:latin typeface="Noto Sans CJK KR"/>
                <a:ea typeface="Noto Sans CJK KR"/>
              </a:rPr>
              <a:t>성과 추적 보드 — 4컬럼 표 (실행 프로그램 PDF p4 동일)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017520"/>
            <a:ext cx="64008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90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주차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17320" y="3017520"/>
            <a:ext cx="201168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090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실행 과제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29000" y="3017520"/>
            <a:ext cx="91440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3090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완료(Y/N)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017520"/>
            <a:ext cx="14630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309067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성찰 메모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383280"/>
            <a:ext cx="6400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17320" y="3383280"/>
            <a:ext cx="20116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3383280"/>
            <a:ext cx="91440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3383280"/>
            <a:ext cx="146304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703320"/>
            <a:ext cx="6400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17320" y="3703320"/>
            <a:ext cx="2011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29000" y="3703320"/>
            <a:ext cx="91440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3703320"/>
            <a:ext cx="146304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23360"/>
            <a:ext cx="6400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4023360"/>
            <a:ext cx="20116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29000" y="4023360"/>
            <a:ext cx="91440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43400" y="4023360"/>
            <a:ext cx="146304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343400"/>
            <a:ext cx="6400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17320" y="4343400"/>
            <a:ext cx="2011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29000" y="4343400"/>
            <a:ext cx="91440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43400" y="4343400"/>
            <a:ext cx="146304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663440"/>
            <a:ext cx="6400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17320" y="4663440"/>
            <a:ext cx="20116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29000" y="4663440"/>
            <a:ext cx="91440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43400" y="4663440"/>
            <a:ext cx="146304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983480"/>
            <a:ext cx="6400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17320" y="4983480"/>
            <a:ext cx="2011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29000" y="4983480"/>
            <a:ext cx="91440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43400" y="4983480"/>
            <a:ext cx="146304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54864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B7280"/>
                </a:solidFill>
                <a:latin typeface="Noto Sans CJK KR"/>
                <a:ea typeface="Noto Sans CJK KR"/>
              </a:rPr>
              <a:t>근거: Matthews(2007) Group 5 — 글로 쓴 목표 + 친구에게 약속·진척 보고 시 달성률 +78%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1792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7 — 부록 (12p)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구성 — 라벨만 인쇄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성경구절 또는 명언 모음 (4p)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13영역 참고 가이드 (4p)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사용 가이드 요약 (2p)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연락처 / 라이선스 / 색인 (2p)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신학 안전 표현 원칙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"성경구절 또는 명언 선택 가능" 중립 표현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Frankl·Dik·Wrzesniewski 등 학술 인용은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  Pre-evangelism / Common Grace 영역에서 안전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자기 너머의 부름을 명시적 vocation으로 동일시 않음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v1.4 · 500부 견적 요청    |    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04 · 인쇄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인쇄 구조 — 단일 일반 인쇄 (Single-Layer Print)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74151"/>
                </a:solidFill>
                <a:latin typeface="Noto Sans CJK KR"/>
                <a:ea typeface="Noto Sans CJK KR"/>
              </a:rPr>
              <a:t>다이어리 1권 = 전 페이지 동일 일반 인쇄 (속표지·간지 8p + 내지 224p). 구매자별 개인화는 사용자가 손글씨로 수행.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11091672" cy="182880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91440" cy="182880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3347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SINGLE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260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A2B4A"/>
                </a:solidFill>
                <a:latin typeface="Noto Sans CJK KR"/>
                <a:ea typeface="Noto Sans CJK KR"/>
              </a:rPr>
              <a:t>일반 인쇄 — 빈칸 양식 (라벨만 인쇄 / 사용자가 손글씨로 채움)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2900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적용 범위: Part 0 (8p) — 7항목 빈칸 + Part 1~7 (224p) 전부 동일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장점: 단일 인쇄 = 단가 안정, 제조사 교섭 단순화, VDP 시스템 투자 불필요</a:t>
            </a:r>
          </a:p>
          <a:p>
            <a:pPr algn="l">
              <a:lnSpc>
                <a:spcPct val="150000"/>
              </a:lnSpc>
            </a:pPr>
            <a:r>
              <a:rPr sz="1050" b="1">
                <a:solidFill>
                  <a:srgbClr val="1A2B4A"/>
                </a:solidFill>
                <a:latin typeface="Noto Sans CJK KR"/>
                <a:ea typeface="Noto Sans CJK KR"/>
              </a:rPr>
              <a:t>· 견적 요청: 70g 종이 · 256p · 오프셋/디지털 택1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72000"/>
            <a:ext cx="11091672" cy="1691640"/>
          </a:xfrm>
          <a:prstGeom prst="rect">
            <a:avLst/>
          </a:prstGeom>
          <a:solidFill>
            <a:srgbClr val="FE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572000"/>
            <a:ext cx="91440" cy="169164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개인화 메커니즘 — 자기화(自己化) by 손글씨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16636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Part 0 7항목 (사명/비전/4SE/TOP3/TOP2/실행프로파일/추천진로) — 리포트를 보며 손으로 옮겨 적음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Part 1~7 전보 — 라벨만 인쇄되어 있고 활용 온도는 사용자의 손글씨에서 창출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· 근거: Mueller &amp; Oppenheimer(2014) — 손글씨 → 개념 이해·장기 기억 우위 / Smoker(2009) — 손글씨 루틴 → 자기 관련 정보 처리 강화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v1.4 · 500부 견적 요청    |    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04 · 인쇄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타이포 · 여백 · 페이지 설계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C9A04F"/>
                </a:solidFill>
                <a:latin typeface="Noto Sans CJK KR"/>
                <a:ea typeface="Noto Sans CJK KR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80360"/>
            <a:ext cx="54864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219456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미니멀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7432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타이포·여백 위주. 사진·일러스트 최소화. 사용자가 빈 공간을 채움.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2024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57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C9A04F"/>
                </a:solidFill>
                <a:latin typeface="Noto Sans CJK KR"/>
                <a:ea typeface="Noto Sans CJK KR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2880360"/>
            <a:ext cx="54864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219456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만년필 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7432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70g 도모에리버 대체재 권장. 비침·번짐 최소. 행간 충분히 확보.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C9A04F"/>
                </a:solidFill>
                <a:latin typeface="Noto Sans CJK KR"/>
                <a:ea typeface="Noto Sans CJK KR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166360"/>
            <a:ext cx="54864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448056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가독성 우선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50292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본문 10.5 ~ 11pt 권장. 한글 행간 1.6 ~ 1.7. 노안 사용자 30~50대 가독성 우선.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20624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343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C9A04F"/>
                </a:solidFill>
                <a:latin typeface="Noto Sans CJK KR"/>
                <a:ea typeface="Noto Sans CJK KR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5166360"/>
            <a:ext cx="54864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448056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빈 공간 = 가치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50292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각 페이지 빈 공간 비율 60% 이상. 사용자의 글쓰기 공간이 곧 다이어리의 핵심 IP.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v1.4 · 500부 견적 요청    |    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05 · 견적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견적 요청 항목 + 회신 양식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견적 요청 항목 — 8개 (사양서 v1.3 §4 ~ §6)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46888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4203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외관(2)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5146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A5 양장 사철 / PU + 금박·형압·가름끈 2 부속 일괄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44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종이(1)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0175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70g 만년필 친화 — 단일 시나리오 견적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47472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5478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페이지(1)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204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256p (속표지·간지 8p + 본문 248p)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7764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5079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인쇄(1)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40233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일반 인쇄 1종 — 오프셋/디지털 추천 선택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48056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537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후가공(1)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45262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금박(C9A04F) + 형압 로고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98348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5663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포장(1)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50292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박스 + 인삿카드 + 사용가이드 8p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48640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595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납기(1)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321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샘플 · 본인쇄 일정 + 예약 옵션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87451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회신 양식 — 단일 시나리오 견적표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224028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0" y="2468880"/>
            <a:ext cx="1280160" cy="384048"/>
          </a:xfrm>
          <a:prstGeom prst="rect">
            <a:avLst/>
          </a:prstGeom>
          <a:solidFill>
            <a:srgbClr val="1A2B4A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2560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항목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2468880"/>
            <a:ext cx="1188720" cy="384048"/>
          </a:xfrm>
          <a:prstGeom prst="rect">
            <a:avLst/>
          </a:prstGeom>
          <a:solidFill>
            <a:srgbClr val="1A2B4A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0" y="25603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수량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52560" y="2468880"/>
            <a:ext cx="2560320" cy="384048"/>
          </a:xfrm>
          <a:prstGeom prst="rect">
            <a:avLst/>
          </a:prstGeom>
          <a:solidFill>
            <a:srgbClr val="1A2B4A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25603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견적·납기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0" y="2852928"/>
            <a:ext cx="128016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294436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샘플 제작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63840" y="2852928"/>
            <a:ext cx="1188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0" y="294436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1부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52560" y="2852928"/>
            <a:ext cx="25603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0" y="29443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본 계약 이전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0" y="3236976"/>
            <a:ext cx="128016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33284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본 제작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236976"/>
            <a:ext cx="118872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55280" y="332841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500부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52560" y="3236976"/>
            <a:ext cx="256032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0" y="33284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1차 발주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0" y="3621024"/>
            <a:ext cx="128016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0" y="37124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추가 제작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63840" y="3621024"/>
            <a:ext cx="1188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0" y="3712464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+500부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52560" y="3621024"/>
            <a:ext cx="25603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0" y="37124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재주문 옵션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0" y="4005072"/>
            <a:ext cx="128016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75120" y="4096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단가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4005072"/>
            <a:ext cx="118872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55280" y="4096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1부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052560" y="4005072"/>
            <a:ext cx="256032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0" y="4096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도매 서적용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83680" y="4617720"/>
            <a:ext cx="5029200" cy="1508760"/>
          </a:xfrm>
          <a:prstGeom prst="rect">
            <a:avLst/>
          </a:prstGeom>
          <a:solidFill>
            <a:srgbClr val="FE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583680" y="4617720"/>
            <a:ext cx="54864" cy="150876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0" y="470916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회신 요청 일정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사양서 수령 후 7영업일 이내 회신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4 시나리오 견적 + VDP 가능 여부 + 납기일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· 회신처: [추후 협의] / 담당자: [추후 협의]</a:t>
            </a:r>
          </a:p>
          <a:p>
            <a:pPr algn="l">
              <a:lnSpc>
                <a:spcPct val="150000"/>
              </a:lnSpc>
            </a:pPr>
            <a:r>
              <a:rPr sz="1050" b="1">
                <a:solidFill>
                  <a:srgbClr val="1A2B4A"/>
                </a:solidFill>
                <a:latin typeface="Noto Sans CJK KR"/>
                <a:ea typeface="Noto Sans CJK KR"/>
              </a:rPr>
              <a:t>· 비교 후 1개 제조사 샘플 제작 의뢰 진행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맞춤형 다이어리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v1.4 · 500부 견적 요청    |    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